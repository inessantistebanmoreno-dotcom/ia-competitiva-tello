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6" r:id="rId7"/>
    <p:sldId id="267" r:id="rId8"/>
    <p:sldId id="268" r:id="rId9"/>
    <p:sldId id="269" r:id="rId10"/>
    <p:sldId id="264" r:id="rId11"/>
  </p:sldIdLst>
  <p:sldSz cx="9144000" cy="5143500" type="screen16x9"/>
  <p:notesSz cx="6810375" cy="99425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F3"/>
    <a:srgbClr val="F9DEDE"/>
    <a:srgbClr val="FF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930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41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213" tIns="53607" rIns="107213" bIns="5360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213" tIns="53607" rIns="107213" bIns="53607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213" tIns="53607" rIns="107213" bIns="5360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213" tIns="53607" rIns="107213" bIns="53607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213" tIns="53607" rIns="107213" bIns="5360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213" tIns="53607" rIns="107213" bIns="53607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213" tIns="53607" rIns="107213" bIns="5360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213" tIns="53607" rIns="107213" bIns="53607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7213" tIns="53607" rIns="107213" bIns="53607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7213" tIns="53607" rIns="107213" bIns="53607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339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6217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1850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7407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25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6493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1341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722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287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9931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3311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17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38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C00000">
              <a:alpha val="1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392777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Agente de Inteligencia</a:t>
            </a:r>
            <a:endParaRPr lang="en-US" sz="38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marL="0" indent="0" algn="l">
              <a:buNone/>
            </a:pPr>
            <a:r>
              <a:rPr lang="en-US" sz="38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Competitiva de Etiquetado</a:t>
            </a:r>
            <a:endParaRPr lang="en-US" sz="38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85599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automática: Noel · Campofrío · El Pozo · Argal</a:t>
            </a:r>
            <a:endParaRPr lang="en-US" sz="1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</a:t>
            </a:r>
            <a:r>
              <a:rPr lang="en-US" sz="1200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</a:t>
            </a:r>
            <a:r>
              <a:rPr lang="en-US" sz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|26 Mayo 2026 </a:t>
            </a:r>
            <a:endParaRPr lang="en-US" sz="1200" dirty="0">
              <a:solidFill>
                <a:srgbClr val="C0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80A050F-FF5A-BE67-345C-9FB30AA4E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85" y="632807"/>
            <a:ext cx="1964448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1800" dirty="0">
              <a:latin typeface="DIN Alternate" panose="020B0500000000000000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8175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el seguimiento de la competencia es manual, lento e incompleto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452408"/>
            <a:ext cx="2651760" cy="196426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93468" y="1620051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Sin cobertura real</a:t>
            </a:r>
            <a:endParaRPr lang="en-US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068782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imposible revisar manualmente cientos de referencias de 4 competidores con frecuencia suficiente.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452408"/>
            <a:ext cx="2651760" cy="196426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10988" y="1620051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Riesgo regulatorio</a:t>
            </a:r>
            <a:endParaRPr lang="en-US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068782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no detectado en alérgenos o composición puede afectar decisiones de etiquetado con implicaciones legales.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452408"/>
            <a:ext cx="2651760" cy="196426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28508" y="1620051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Reacción tardía</a:t>
            </a:r>
            <a:endParaRPr lang="en-US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068782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en casi-tiempo real sobre reformulaciones, el equipo de producto llega tarde a los movimientos del mercado.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" y="3983603"/>
            <a:ext cx="8686800" cy="685800"/>
          </a:xfrm>
          <a:prstGeom prst="rect">
            <a:avLst/>
          </a:prstGeom>
          <a:solidFill>
            <a:srgbClr val="C00000">
              <a:alpha val="9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11480" y="4075043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solución: un agente automatizado que </a:t>
            </a:r>
            <a:r>
              <a:rPr lang="en-US" sz="1300" b="1" dirty="0" err="1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</a:t>
            </a: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webs cada 6-12 horas y alerta al equipo cuando detecta un cambio.</a:t>
            </a:r>
            <a:endParaRPr lang="en-US" sz="1300" dirty="0">
              <a:solidFill>
                <a:srgbClr val="C00000"/>
              </a:solidFill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0F5AD1A-E507-F1D6-3050-752DAC284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148" y="94554"/>
            <a:ext cx="919246" cy="459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Cómo funciona el agente — 4 bloques</a:t>
            </a:r>
            <a:endParaRPr lang="en-US" sz="1800" dirty="0">
              <a:latin typeface="DIN Alternate" panose="020B0500000000000000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92988"/>
            <a:ext cx="1920240" cy="3291840"/>
          </a:xfrm>
          <a:prstGeom prst="rect">
            <a:avLst/>
          </a:prstGeom>
          <a:solidFill>
            <a:srgbClr val="FFB7B7">
              <a:alpha val="38000"/>
            </a:srgbClr>
          </a:solidFill>
          <a:ln w="12700">
            <a:solidFill>
              <a:schemeClr val="bg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1377064"/>
            <a:ext cx="1920240" cy="680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>
                    <a:alpha val="80000"/>
                  </a:srgbClr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2196057"/>
            <a:ext cx="1920240" cy="642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(Scraping + IA)</a:t>
            </a:r>
            <a:endParaRPr lang="en-U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" y="3042491"/>
            <a:ext cx="1783080" cy="1133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navega las webs. Claude Vision lee etiquetas en imagen.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194560" y="2535211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>
              <a:solidFill>
                <a:srgbClr val="C0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50592" y="998668"/>
            <a:ext cx="1920240" cy="3291840"/>
          </a:xfrm>
          <a:prstGeom prst="rect">
            <a:avLst/>
          </a:prstGeom>
          <a:solidFill>
            <a:srgbClr val="F9DEDE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450592" y="1377064"/>
            <a:ext cx="1920240" cy="680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>
                    <a:alpha val="80000"/>
                  </a:srgbClr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>
              <a:solidFill>
                <a:srgbClr val="C00000">
                  <a:alpha val="80000"/>
                </a:srgbClr>
              </a:solidFill>
              <a:latin typeface="DIN Alternate" panose="020B0500000000000000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50592" y="2196057"/>
            <a:ext cx="1920240" cy="642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23744" y="3042491"/>
            <a:ext cx="1783080" cy="1133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estado actual e historial completo de cambios.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6053" y="2535211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>
              <a:solidFill>
                <a:srgbClr val="C0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26864" y="992988"/>
            <a:ext cx="1920240" cy="3291840"/>
          </a:xfrm>
          <a:prstGeom prst="rect">
            <a:avLst/>
          </a:prstGeom>
          <a:solidFill>
            <a:srgbClr val="F9DEDE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626864" y="1377064"/>
            <a:ext cx="1920240" cy="680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26864" y="2196057"/>
            <a:ext cx="1920240" cy="642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(n8n)</a:t>
            </a:r>
            <a:endParaRPr lang="en-U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0016" y="3042491"/>
            <a:ext cx="1783080" cy="1133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ciclos, detecta cambios y dispara alertas.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47104" y="2535211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>
              <a:solidFill>
                <a:srgbClr val="C00000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03136" y="992988"/>
            <a:ext cx="1920240" cy="3291840"/>
          </a:xfrm>
          <a:prstGeom prst="rect">
            <a:avLst/>
          </a:prstGeom>
          <a:solidFill>
            <a:srgbClr val="F9DEDE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803136" y="1377064"/>
            <a:ext cx="1920240" cy="680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03136" y="2196057"/>
            <a:ext cx="1920240" cy="642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(Metabase)</a:t>
            </a:r>
            <a:endParaRPr lang="en-U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76288" y="3042491"/>
            <a:ext cx="1783080" cy="1133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comparativa sin exportar a Excel.</a:t>
            </a:r>
            <a:endParaRPr lang="en-US" sz="1100" dirty="0">
              <a:solidFill>
                <a:srgbClr val="C00000"/>
              </a:solidFill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8F3B33D-DF5F-6277-0C81-DB9546F8A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148" y="94554"/>
            <a:ext cx="919246" cy="459623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91A95B65-3BAC-2A76-210E-B265F3143AA4}"/>
              </a:ext>
            </a:extLst>
          </p:cNvPr>
          <p:cNvSpPr txBox="1"/>
          <p:nvPr/>
        </p:nvSpPr>
        <p:spPr>
          <a:xfrm>
            <a:off x="274320" y="4637737"/>
            <a:ext cx="84490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ES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scraper</a:t>
            </a:r>
            <a:r>
              <a:rPr lang="es-ES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ejecuta automáticamente cada 6-12 horas sin intervención humana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3AC8010-CC5E-0FB1-8A60-E9EB9590C5A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63536C-581A-F630-2A4A-1931662090DF}"/>
              </a:ext>
            </a:extLst>
          </p:cNvPr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800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Extracción</a:t>
            </a:r>
            <a:r>
              <a:rPr lang="en-US" sz="1800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800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(Scrapping + IA)</a:t>
            </a:r>
            <a:endParaRPr lang="en-US" sz="1800" dirty="0">
              <a:latin typeface="DIN Alternate" panose="020B0500000000000000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F48E4B-3568-3F54-FFE4-D9B231D7F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148" y="94554"/>
            <a:ext cx="919246" cy="45962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8E3170C-CAA0-04CD-F267-C3C7C46F664F}"/>
              </a:ext>
            </a:extLst>
          </p:cNvPr>
          <p:cNvSpPr/>
          <p:nvPr/>
        </p:nvSpPr>
        <p:spPr>
          <a:xfrm>
            <a:off x="211845" y="1190750"/>
            <a:ext cx="4306009" cy="3824251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9CAFCC-DC4A-A699-9DAE-7E9C33764509}"/>
              </a:ext>
            </a:extLst>
          </p:cNvPr>
          <p:cNvSpPr txBox="1"/>
          <p:nvPr/>
        </p:nvSpPr>
        <p:spPr>
          <a:xfrm>
            <a:off x="421230" y="751582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s-ES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opciones según el tipo de web:</a:t>
            </a:r>
            <a:endParaRPr lang="es-E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C2E0EB-5DFD-ACF7-46B3-8D2720AFD0C3}"/>
              </a:ext>
            </a:extLst>
          </p:cNvPr>
          <p:cNvSpPr txBox="1"/>
          <p:nvPr/>
        </p:nvSpPr>
        <p:spPr>
          <a:xfrm>
            <a:off x="364245" y="1321244"/>
            <a:ext cx="40024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C00000"/>
                </a:solidFill>
                <a:latin typeface="DIN Alternate" panose="020B0500000000000000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 CON HTML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D13975A8-69ED-F1AA-1AB2-6E08D769A064}"/>
              </a:ext>
            </a:extLst>
          </p:cNvPr>
          <p:cNvGrpSpPr/>
          <p:nvPr/>
        </p:nvGrpSpPr>
        <p:grpSpPr>
          <a:xfrm>
            <a:off x="466477" y="1960947"/>
            <a:ext cx="3772045" cy="2732554"/>
            <a:chOff x="466477" y="1767839"/>
            <a:chExt cx="3772045" cy="2732554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C59313DB-269B-9225-F642-E42C4DF4AF82}"/>
                </a:ext>
              </a:extLst>
            </p:cNvPr>
            <p:cNvGrpSpPr/>
            <p:nvPr/>
          </p:nvGrpSpPr>
          <p:grpSpPr>
            <a:xfrm>
              <a:off x="466477" y="1767839"/>
              <a:ext cx="3772045" cy="461665"/>
              <a:chOff x="466477" y="1767839"/>
              <a:chExt cx="3772045" cy="461665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719BED00-DBE6-EF47-3FA0-31BAE4A54AC8}"/>
                  </a:ext>
                </a:extLst>
              </p:cNvPr>
              <p:cNvSpPr/>
              <p:nvPr/>
            </p:nvSpPr>
            <p:spPr>
              <a:xfrm>
                <a:off x="466477" y="1829394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BAFEBD7-64D0-1606-D0DD-AC10EAC377DC}"/>
                  </a:ext>
                </a:extLst>
              </p:cNvPr>
              <p:cNvSpPr txBox="1"/>
              <p:nvPr/>
            </p:nvSpPr>
            <p:spPr>
              <a:xfrm>
                <a:off x="909477" y="1767839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Playwright</a:t>
                </a: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abre el navegador en modo </a:t>
                </a:r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headless</a:t>
                </a: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(sin ventana visible)</a:t>
                </a:r>
              </a:p>
            </p:txBody>
          </p:sp>
        </p:grp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938A2E70-367C-1495-6640-96C932041747}"/>
                </a:ext>
              </a:extLst>
            </p:cNvPr>
            <p:cNvGrpSpPr/>
            <p:nvPr/>
          </p:nvGrpSpPr>
          <p:grpSpPr>
            <a:xfrm>
              <a:off x="466477" y="2366339"/>
              <a:ext cx="3772045" cy="461665"/>
              <a:chOff x="466477" y="2388040"/>
              <a:chExt cx="3772045" cy="461665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1E3AE727-8B64-F2DE-B071-57263B80A040}"/>
                  </a:ext>
                </a:extLst>
              </p:cNvPr>
              <p:cNvSpPr/>
              <p:nvPr/>
            </p:nvSpPr>
            <p:spPr>
              <a:xfrm>
                <a:off x="466477" y="2449595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45C84BEE-8CA5-452E-A921-6EB23E2D9E82}"/>
                  </a:ext>
                </a:extLst>
              </p:cNvPr>
              <p:cNvSpPr txBox="1"/>
              <p:nvPr/>
            </p:nvSpPr>
            <p:spPr>
              <a:xfrm>
                <a:off x="909477" y="2388040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/>
              <a:p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Navega la página de catálogo y obtiene la lista de </a:t>
                </a:r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URLs</a:t>
                </a: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 productos</a:t>
                </a:r>
              </a:p>
            </p:txBody>
          </p:sp>
        </p:grp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2247F70B-E818-97DE-9C4E-26B0E5996FDF}"/>
                </a:ext>
              </a:extLst>
            </p:cNvPr>
            <p:cNvGrpSpPr/>
            <p:nvPr/>
          </p:nvGrpSpPr>
          <p:grpSpPr>
            <a:xfrm>
              <a:off x="466477" y="2964839"/>
              <a:ext cx="3772045" cy="461665"/>
              <a:chOff x="466477" y="3003059"/>
              <a:chExt cx="3772045" cy="461665"/>
            </a:xfrm>
          </p:grpSpPr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300B9758-2EAD-44EA-290F-F74189EA1C3D}"/>
                  </a:ext>
                </a:extLst>
              </p:cNvPr>
              <p:cNvSpPr/>
              <p:nvPr/>
            </p:nvSpPr>
            <p:spPr>
              <a:xfrm>
                <a:off x="466477" y="3064614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1E996051-D3BE-8A1E-05B7-4DA2CDDEB750}"/>
                  </a:ext>
                </a:extLst>
              </p:cNvPr>
              <p:cNvSpPr txBox="1"/>
              <p:nvPr/>
            </p:nvSpPr>
            <p:spPr>
              <a:xfrm>
                <a:off x="909477" y="3003059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Entra en cada ficha de producto y localiza los bloques de ingredientes, tabla nutricional y </a:t>
                </a:r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claims</a:t>
                </a:r>
                <a:endParaRPr lang="es-E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4302C36A-928B-0F54-ABC5-51940ACB658F}"/>
                </a:ext>
              </a:extLst>
            </p:cNvPr>
            <p:cNvGrpSpPr/>
            <p:nvPr/>
          </p:nvGrpSpPr>
          <p:grpSpPr>
            <a:xfrm>
              <a:off x="466477" y="3563339"/>
              <a:ext cx="3772045" cy="461665"/>
              <a:chOff x="466477" y="3584080"/>
              <a:chExt cx="3772045" cy="461665"/>
            </a:xfrm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D1F40D97-EB22-36B6-9647-437C38F7DDBE}"/>
                  </a:ext>
                </a:extLst>
              </p:cNvPr>
              <p:cNvSpPr/>
              <p:nvPr/>
            </p:nvSpPr>
            <p:spPr>
              <a:xfrm>
                <a:off x="466477" y="3645635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4</a:t>
                </a:r>
              </a:p>
            </p:txBody>
          </p: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316D4FA7-7078-8848-826D-2C47090D202A}"/>
                  </a:ext>
                </a:extLst>
              </p:cNvPr>
              <p:cNvSpPr txBox="1"/>
              <p:nvPr/>
            </p:nvSpPr>
            <p:spPr>
              <a:xfrm>
                <a:off x="909477" y="3584080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/>
              <a:p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Extrae el texto directamente del HTML — rápido y económico</a:t>
                </a:r>
              </a:p>
            </p:txBody>
          </p:sp>
        </p:grp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9C0242CE-B628-E340-F4A2-B00542ED6897}"/>
                </a:ext>
              </a:extLst>
            </p:cNvPr>
            <p:cNvGrpSpPr/>
            <p:nvPr/>
          </p:nvGrpSpPr>
          <p:grpSpPr>
            <a:xfrm>
              <a:off x="466477" y="4161839"/>
              <a:ext cx="3772045" cy="338554"/>
              <a:chOff x="466477" y="4161839"/>
              <a:chExt cx="3772045" cy="338554"/>
            </a:xfrm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7DE96AFA-6699-D4A2-1E89-27B4F42932DA}"/>
                  </a:ext>
                </a:extLst>
              </p:cNvPr>
              <p:cNvSpPr/>
              <p:nvPr/>
            </p:nvSpPr>
            <p:spPr>
              <a:xfrm>
                <a:off x="466477" y="4161839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5</a:t>
                </a:r>
              </a:p>
            </p:txBody>
          </p: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17D880E-5BEE-39C2-6C59-A77A612D3A74}"/>
                  </a:ext>
                </a:extLst>
              </p:cNvPr>
              <p:cNvSpPr txBox="1"/>
              <p:nvPr/>
            </p:nvSpPr>
            <p:spPr>
              <a:xfrm>
                <a:off x="909477" y="4192617"/>
                <a:ext cx="3329045" cy="276999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/>
              <a:p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Normaliza los campos al esquema JSON unificado</a:t>
                </a:r>
              </a:p>
            </p:txBody>
          </p:sp>
        </p:grpSp>
      </p:grpSp>
      <p:sp>
        <p:nvSpPr>
          <p:cNvPr id="52" name="Rectángulo 51">
            <a:extLst>
              <a:ext uri="{FF2B5EF4-FFF2-40B4-BE49-F238E27FC236}">
                <a16:creationId xmlns:a16="http://schemas.microsoft.com/office/drawing/2014/main" id="{68AB2766-4474-4A75-4E88-69E8AAB5F448}"/>
              </a:ext>
            </a:extLst>
          </p:cNvPr>
          <p:cNvSpPr/>
          <p:nvPr/>
        </p:nvSpPr>
        <p:spPr>
          <a:xfrm>
            <a:off x="4626148" y="1179963"/>
            <a:ext cx="4306009" cy="3824251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43FB486-20A2-9EFC-6C72-3E10698466AD}"/>
              </a:ext>
            </a:extLst>
          </p:cNvPr>
          <p:cNvSpPr txBox="1"/>
          <p:nvPr/>
        </p:nvSpPr>
        <p:spPr>
          <a:xfrm>
            <a:off x="4778548" y="1310457"/>
            <a:ext cx="40024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C00000"/>
                </a:solidFill>
                <a:latin typeface="DIN Alternate" panose="020B0500000000000000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 CON CONTENIDO DINÁMICO</a:t>
            </a: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A73ACFDC-404D-BD88-A9DB-40E6EB5ED7A4}"/>
              </a:ext>
            </a:extLst>
          </p:cNvPr>
          <p:cNvGrpSpPr/>
          <p:nvPr/>
        </p:nvGrpSpPr>
        <p:grpSpPr>
          <a:xfrm>
            <a:off x="4880780" y="1950160"/>
            <a:ext cx="3772045" cy="2794110"/>
            <a:chOff x="466477" y="1767839"/>
            <a:chExt cx="3772045" cy="2794110"/>
          </a:xfrm>
        </p:grpSpPr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BE41277F-AD31-4907-6D7A-D9819F9FA228}"/>
                </a:ext>
              </a:extLst>
            </p:cNvPr>
            <p:cNvGrpSpPr/>
            <p:nvPr/>
          </p:nvGrpSpPr>
          <p:grpSpPr>
            <a:xfrm>
              <a:off x="466477" y="1767839"/>
              <a:ext cx="3772045" cy="461665"/>
              <a:chOff x="466477" y="1767839"/>
              <a:chExt cx="3772045" cy="461665"/>
            </a:xfrm>
          </p:grpSpPr>
          <p:sp>
            <p:nvSpPr>
              <p:cNvPr id="68" name="Rectángulo 67">
                <a:extLst>
                  <a:ext uri="{FF2B5EF4-FFF2-40B4-BE49-F238E27FC236}">
                    <a16:creationId xmlns:a16="http://schemas.microsoft.com/office/drawing/2014/main" id="{23828A83-9E5C-40C8-BC05-167BC7A342DE}"/>
                  </a:ext>
                </a:extLst>
              </p:cNvPr>
              <p:cNvSpPr/>
              <p:nvPr/>
            </p:nvSpPr>
            <p:spPr>
              <a:xfrm>
                <a:off x="466477" y="1829394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03B26897-DC8B-9944-528C-CFA6AD787FEA}"/>
                  </a:ext>
                </a:extLst>
              </p:cNvPr>
              <p:cNvSpPr txBox="1"/>
              <p:nvPr/>
            </p:nvSpPr>
            <p:spPr>
              <a:xfrm>
                <a:off x="909477" y="1767839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Playwright</a:t>
                </a: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detecta que la tabla nutricional es una imagen, no texto</a:t>
                </a:r>
              </a:p>
            </p:txBody>
          </p:sp>
        </p:grp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4623D391-E2C2-BEAD-AB6C-74655EBFB468}"/>
                </a:ext>
              </a:extLst>
            </p:cNvPr>
            <p:cNvGrpSpPr/>
            <p:nvPr/>
          </p:nvGrpSpPr>
          <p:grpSpPr>
            <a:xfrm>
              <a:off x="466477" y="2366339"/>
              <a:ext cx="3772045" cy="461665"/>
              <a:chOff x="466477" y="2388040"/>
              <a:chExt cx="3772045" cy="461665"/>
            </a:xfrm>
          </p:grpSpPr>
          <p:sp>
            <p:nvSpPr>
              <p:cNvPr id="66" name="Rectángulo 65">
                <a:extLst>
                  <a:ext uri="{FF2B5EF4-FFF2-40B4-BE49-F238E27FC236}">
                    <a16:creationId xmlns:a16="http://schemas.microsoft.com/office/drawing/2014/main" id="{9CF71104-040A-9EA7-736F-5A382E03D0E3}"/>
                  </a:ext>
                </a:extLst>
              </p:cNvPr>
              <p:cNvSpPr/>
              <p:nvPr/>
            </p:nvSpPr>
            <p:spPr>
              <a:xfrm>
                <a:off x="466477" y="2449595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23B7D407-9D56-AA53-68F0-1505554ADA41}"/>
                  </a:ext>
                </a:extLst>
              </p:cNvPr>
              <p:cNvSpPr txBox="1"/>
              <p:nvPr/>
            </p:nvSpPr>
            <p:spPr>
              <a:xfrm>
                <a:off x="909477" y="2388040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/>
              <a:p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Captura la imagen de la etiqueta (</a:t>
                </a:r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screenshot</a:t>
                </a: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elemento)</a:t>
                </a:r>
              </a:p>
            </p:txBody>
          </p:sp>
        </p:grp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375C8956-4E3B-9EE4-667D-4399C5DAB2FA}"/>
                </a:ext>
              </a:extLst>
            </p:cNvPr>
            <p:cNvGrpSpPr/>
            <p:nvPr/>
          </p:nvGrpSpPr>
          <p:grpSpPr>
            <a:xfrm>
              <a:off x="466477" y="2964839"/>
              <a:ext cx="3772045" cy="461665"/>
              <a:chOff x="466477" y="3003059"/>
              <a:chExt cx="3772045" cy="461665"/>
            </a:xfrm>
          </p:grpSpPr>
          <p:sp>
            <p:nvSpPr>
              <p:cNvPr id="64" name="Rectángulo 63">
                <a:extLst>
                  <a:ext uri="{FF2B5EF4-FFF2-40B4-BE49-F238E27FC236}">
                    <a16:creationId xmlns:a16="http://schemas.microsoft.com/office/drawing/2014/main" id="{F3D3E009-8E5C-54A6-17D7-56E538D746FB}"/>
                  </a:ext>
                </a:extLst>
              </p:cNvPr>
              <p:cNvSpPr/>
              <p:nvPr/>
            </p:nvSpPr>
            <p:spPr>
              <a:xfrm>
                <a:off x="466477" y="3064614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FF96E314-F057-43B2-1963-4157CE1AEAD4}"/>
                  </a:ext>
                </a:extLst>
              </p:cNvPr>
              <p:cNvSpPr txBox="1"/>
              <p:nvPr/>
            </p:nvSpPr>
            <p:spPr>
              <a:xfrm>
                <a:off x="909477" y="3003059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Envía la imagen a la API de Claude Vision con el </a:t>
                </a:r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prompt</a:t>
                </a: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estructurado</a:t>
                </a:r>
              </a:p>
            </p:txBody>
          </p:sp>
        </p:grp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7A41CE6A-504F-A454-33F7-E839852DFB71}"/>
                </a:ext>
              </a:extLst>
            </p:cNvPr>
            <p:cNvGrpSpPr/>
            <p:nvPr/>
          </p:nvGrpSpPr>
          <p:grpSpPr>
            <a:xfrm>
              <a:off x="466477" y="3563339"/>
              <a:ext cx="3772045" cy="461665"/>
              <a:chOff x="466477" y="3584080"/>
              <a:chExt cx="3772045" cy="461665"/>
            </a:xfrm>
          </p:grpSpPr>
          <p:sp>
            <p:nvSpPr>
              <p:cNvPr id="62" name="Rectángulo 61">
                <a:extLst>
                  <a:ext uri="{FF2B5EF4-FFF2-40B4-BE49-F238E27FC236}">
                    <a16:creationId xmlns:a16="http://schemas.microsoft.com/office/drawing/2014/main" id="{7C829F2F-26EE-14C1-3415-0C8D12D35119}"/>
                  </a:ext>
                </a:extLst>
              </p:cNvPr>
              <p:cNvSpPr/>
              <p:nvPr/>
            </p:nvSpPr>
            <p:spPr>
              <a:xfrm>
                <a:off x="466477" y="3645635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4</a:t>
                </a:r>
              </a:p>
            </p:txBody>
          </p:sp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6C22D604-4757-6CA3-A7D9-CDC8698AD6F1}"/>
                  </a:ext>
                </a:extLst>
              </p:cNvPr>
              <p:cNvSpPr txBox="1"/>
              <p:nvPr/>
            </p:nvSpPr>
            <p:spPr>
              <a:xfrm>
                <a:off x="909477" y="3584080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/>
              <a:p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Claude extrae: kcal, proteínas, grasas, sal, ingredientes, </a:t>
                </a:r>
                <a:r>
                  <a:rPr lang="es-ES" sz="1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claims</a:t>
                </a:r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y alérgenos</a:t>
                </a:r>
              </a:p>
            </p:txBody>
          </p:sp>
        </p:grp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82F59FA4-08A4-5794-DB83-1BBA5360A21F}"/>
                </a:ext>
              </a:extLst>
            </p:cNvPr>
            <p:cNvGrpSpPr/>
            <p:nvPr/>
          </p:nvGrpSpPr>
          <p:grpSpPr>
            <a:xfrm>
              <a:off x="466477" y="4100284"/>
              <a:ext cx="3772045" cy="461665"/>
              <a:chOff x="466477" y="4100284"/>
              <a:chExt cx="3772045" cy="461665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565D455F-C990-1B67-22EA-3F66256EC047}"/>
                  </a:ext>
                </a:extLst>
              </p:cNvPr>
              <p:cNvSpPr/>
              <p:nvPr/>
            </p:nvSpPr>
            <p:spPr>
              <a:xfrm>
                <a:off x="466477" y="4161839"/>
                <a:ext cx="344383" cy="338554"/>
              </a:xfrm>
              <a:prstGeom prst="rect">
                <a:avLst/>
              </a:prstGeom>
              <a:ln>
                <a:solidFill>
                  <a:srgbClr val="FFB7B7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s-ES" sz="1300" b="1" dirty="0">
                    <a:solidFill>
                      <a:srgbClr val="C00000"/>
                    </a:solidFill>
                  </a:rPr>
                  <a:t>5</a:t>
                </a:r>
              </a:p>
            </p:txBody>
          </p:sp>
          <p:sp>
            <p:nvSpPr>
              <p:cNvPr id="61" name="CuadroTexto 60">
                <a:extLst>
                  <a:ext uri="{FF2B5EF4-FFF2-40B4-BE49-F238E27FC236}">
                    <a16:creationId xmlns:a16="http://schemas.microsoft.com/office/drawing/2014/main" id="{E09D40F2-6C19-10DB-C3CB-A1C9CE84F1E2}"/>
                  </a:ext>
                </a:extLst>
              </p:cNvPr>
              <p:cNvSpPr txBox="1"/>
              <p:nvPr/>
            </p:nvSpPr>
            <p:spPr>
              <a:xfrm>
                <a:off x="909477" y="4100284"/>
                <a:ext cx="3329045" cy="461665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/>
              <a:p>
                <a:r>
                  <a: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 JSON devuelto sigue exactamente el mismo esquema unificado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9418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1.1 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800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atos extraídos de cada producto competidor</a:t>
            </a:r>
            <a:endParaRPr lang="en-US" sz="1800" dirty="0">
              <a:latin typeface="DIN Alternate" panose="020B0500000000000000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estructura que el Excel interno — actualizada automáticamente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698063"/>
              </p:ext>
            </p:extLst>
          </p:nvPr>
        </p:nvGraphicFramePr>
        <p:xfrm>
          <a:off x="274320" y="1143000"/>
          <a:ext cx="8595360" cy="3426842"/>
        </p:xfrm>
        <a:graphic>
          <a:graphicData uri="http://schemas.openxmlformats.org/drawingml/2006/table">
            <a:tbl>
              <a:tblPr/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5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IN Alternate" panose="020B0500000000000000" pitchFamily="34" charset="0"/>
                          <a:ea typeface="Calibri" pitchFamily="34" charset="-122"/>
                          <a:cs typeface="Calibri" pitchFamily="34" charset="-120"/>
                        </a:rPr>
                        <a:t>Campo extraído</a:t>
                      </a:r>
                      <a:endParaRPr lang="en-US" sz="1300" dirty="0">
                        <a:latin typeface="DIN Alternate" panose="020B0500000000000000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IN Alternate" panose="020B0500000000000000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300" dirty="0">
                        <a:latin typeface="DIN Alternate" panose="020B0500000000000000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Ingredientes completos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nutricional (kcal, proteínas, grasas, sal...)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4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Alérgenos (gluten, lactosa, colorantes, conservantes)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del packaging (% carne,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selección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gama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raciones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modo de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cocción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certificaciones)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77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/ Subcategoría / Formato / Gramaje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6D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del producto + Descripción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F2A061D1-7966-7512-04BB-44C3D6104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148" y="94554"/>
            <a:ext cx="919246" cy="459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7DB2-261A-F705-F995-F69A9EC3F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A0A37E2-9305-3148-7C88-608D8F2AFDA2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DECB8F-6578-77D1-DB43-E7414DE69582}"/>
              </a:ext>
            </a:extLst>
          </p:cNvPr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s-E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Base de datos (PostgreSQL / </a:t>
            </a:r>
            <a:r>
              <a:rPr lang="es-E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es-E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>
              <a:latin typeface="DIN Alternate" panose="020B0500000000000000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C8FA78-6695-78FC-5529-574BA12D9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148" y="94554"/>
            <a:ext cx="919246" cy="459623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8378493B-21A8-D686-E8E5-ADDE2845E1A1}"/>
              </a:ext>
            </a:extLst>
          </p:cNvPr>
          <p:cNvGrpSpPr/>
          <p:nvPr/>
        </p:nvGrpSpPr>
        <p:grpSpPr>
          <a:xfrm>
            <a:off x="211845" y="823528"/>
            <a:ext cx="4306009" cy="4191473"/>
            <a:chOff x="211845" y="823528"/>
            <a:chExt cx="4306009" cy="4191473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08799F5B-EF19-EB41-598D-46DD4178A803}"/>
                </a:ext>
              </a:extLst>
            </p:cNvPr>
            <p:cNvSpPr/>
            <p:nvPr/>
          </p:nvSpPr>
          <p:spPr>
            <a:xfrm>
              <a:off x="211845" y="823528"/>
              <a:ext cx="4306009" cy="419147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6348EE3C-7CE2-48DD-C196-6E1D6D1A5DF8}"/>
                </a:ext>
              </a:extLst>
            </p:cNvPr>
            <p:cNvSpPr txBox="1"/>
            <p:nvPr/>
          </p:nvSpPr>
          <p:spPr>
            <a:xfrm>
              <a:off x="333480" y="1295499"/>
              <a:ext cx="41414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r>
                <a:rPr lang="es-ES" sz="1100" i="1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os opciones según el </a:t>
              </a:r>
              <a:r>
                <a:rPr lang="es-ES" sz="11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Estado ACTUAL de cada producto — 1 fila por referencia, se </a:t>
              </a:r>
              <a:r>
                <a:rPr lang="es-ES" sz="1100" i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sobreescribe</a:t>
              </a:r>
              <a:r>
                <a:rPr lang="es-ES" sz="11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en cada ciclo</a:t>
              </a:r>
              <a:r>
                <a:rPr lang="es-ES" sz="1100" i="1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de web:</a:t>
              </a:r>
              <a:endParaRPr lang="es-E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21443DC4-F30B-4DCC-D520-B6CFE4087538}"/>
                </a:ext>
              </a:extLst>
            </p:cNvPr>
            <p:cNvSpPr txBox="1"/>
            <p:nvPr/>
          </p:nvSpPr>
          <p:spPr>
            <a:xfrm>
              <a:off x="363035" y="919589"/>
              <a:ext cx="400241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600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TABLA: </a:t>
              </a:r>
              <a:r>
                <a:rPr lang="es-ES" sz="1600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productos_competencia</a:t>
              </a:r>
              <a:r>
                <a:rPr lang="es-ES" sz="1600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C7380291-D397-C3A5-3552-512794BEF5CC}"/>
                </a:ext>
              </a:extLst>
            </p:cNvPr>
            <p:cNvGrpSpPr/>
            <p:nvPr/>
          </p:nvGrpSpPr>
          <p:grpSpPr>
            <a:xfrm>
              <a:off x="409341" y="1809624"/>
              <a:ext cx="3558372" cy="3092227"/>
              <a:chOff x="409341" y="1809624"/>
              <a:chExt cx="3558372" cy="3092227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885E7AA-90AE-16DE-BADA-3618CF8C7FCD}"/>
                  </a:ext>
                </a:extLst>
              </p:cNvPr>
              <p:cNvGrpSpPr/>
              <p:nvPr/>
            </p:nvGrpSpPr>
            <p:grpSpPr>
              <a:xfrm>
                <a:off x="409341" y="1809624"/>
                <a:ext cx="3558372" cy="276999"/>
                <a:chOff x="409341" y="1728250"/>
                <a:chExt cx="3558372" cy="276999"/>
              </a:xfrm>
            </p:grpSpPr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399D249-315D-234B-569F-B82A71183DDC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830C8076-37FE-A740-E1A6-7DA934852EDA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competidor</a:t>
                  </a:r>
                </a:p>
              </p:txBody>
            </p:sp>
          </p:grpSp>
          <p:grpSp>
            <p:nvGrpSpPr>
              <p:cNvPr id="2" name="Grupo 1">
                <a:extLst>
                  <a:ext uri="{FF2B5EF4-FFF2-40B4-BE49-F238E27FC236}">
                    <a16:creationId xmlns:a16="http://schemas.microsoft.com/office/drawing/2014/main" id="{D6BF340E-795F-6B1C-B7B7-5E4D0532EFD3}"/>
                  </a:ext>
                </a:extLst>
              </p:cNvPr>
              <p:cNvGrpSpPr/>
              <p:nvPr/>
            </p:nvGrpSpPr>
            <p:grpSpPr>
              <a:xfrm>
                <a:off x="409341" y="2119162"/>
                <a:ext cx="3558372" cy="276999"/>
                <a:chOff x="409341" y="1728250"/>
                <a:chExt cx="3558372" cy="276999"/>
              </a:xfrm>
            </p:grpSpPr>
            <p:sp>
              <p:nvSpPr>
                <p:cNvPr id="7" name="Rectángulo 6">
                  <a:extLst>
                    <a:ext uri="{FF2B5EF4-FFF2-40B4-BE49-F238E27FC236}">
                      <a16:creationId xmlns:a16="http://schemas.microsoft.com/office/drawing/2014/main" id="{F8483145-8C11-1C72-F414-AE11D2D11463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0CE2BCF2-D34E-2A84-1237-CE6645BE5199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producto</a:t>
                  </a:r>
                </a:p>
              </p:txBody>
            </p:sp>
          </p:grp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AD4A5314-B1E9-11B1-D3F3-95EB7E9E82FF}"/>
                  </a:ext>
                </a:extLst>
              </p:cNvPr>
              <p:cNvGrpSpPr/>
              <p:nvPr/>
            </p:nvGrpSpPr>
            <p:grpSpPr>
              <a:xfrm>
                <a:off x="409341" y="2428700"/>
                <a:ext cx="3558372" cy="276999"/>
                <a:chOff x="409341" y="1728250"/>
                <a:chExt cx="3558372" cy="276999"/>
              </a:xfrm>
            </p:grpSpPr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C47E4965-1B77-B70E-DCCE-1512D5F9B209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1CA7DF1-39BE-8F9D-B835-603D081042B4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categoría</a:t>
                  </a:r>
                </a:p>
              </p:txBody>
            </p:sp>
          </p:grp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91E69576-DEE9-2C87-C5E2-4D7FD224FB49}"/>
                  </a:ext>
                </a:extLst>
              </p:cNvPr>
              <p:cNvGrpSpPr/>
              <p:nvPr/>
            </p:nvGrpSpPr>
            <p:grpSpPr>
              <a:xfrm>
                <a:off x="409341" y="2738238"/>
                <a:ext cx="3558372" cy="276999"/>
                <a:chOff x="409341" y="1728250"/>
                <a:chExt cx="3558372" cy="276999"/>
              </a:xfrm>
            </p:grpSpPr>
            <p:sp>
              <p:nvSpPr>
                <p:cNvPr id="17" name="Rectángulo 16">
                  <a:extLst>
                    <a:ext uri="{FF2B5EF4-FFF2-40B4-BE49-F238E27FC236}">
                      <a16:creationId xmlns:a16="http://schemas.microsoft.com/office/drawing/2014/main" id="{B4C9C09B-763E-ACE2-21E2-121FA9ADAE27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4D7FCC29-A9B7-DD16-E48B-6D165B6BFF85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ingredientes</a:t>
                  </a:r>
                </a:p>
              </p:txBody>
            </p:sp>
          </p:grpSp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9FAE1F82-1793-8734-1B6C-2FCD6C243038}"/>
                  </a:ext>
                </a:extLst>
              </p:cNvPr>
              <p:cNvGrpSpPr/>
              <p:nvPr/>
            </p:nvGrpSpPr>
            <p:grpSpPr>
              <a:xfrm>
                <a:off x="409341" y="3047775"/>
                <a:ext cx="3558372" cy="276999"/>
                <a:chOff x="409341" y="1728250"/>
                <a:chExt cx="3558372" cy="276999"/>
              </a:xfrm>
            </p:grpSpPr>
            <p:sp>
              <p:nvSpPr>
                <p:cNvPr id="34" name="Rectángulo 33">
                  <a:extLst>
                    <a:ext uri="{FF2B5EF4-FFF2-40B4-BE49-F238E27FC236}">
                      <a16:creationId xmlns:a16="http://schemas.microsoft.com/office/drawing/2014/main" id="{4AF2605B-9214-0C52-25A3-A84F39A20421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00908556-A59A-372C-EA65-82AC23ABA8D0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kcal / proteínas / grasas / sal</a:t>
                  </a:r>
                </a:p>
              </p:txBody>
            </p:sp>
          </p:grpSp>
          <p:grpSp>
            <p:nvGrpSpPr>
              <p:cNvPr id="51" name="Grupo 50">
                <a:extLst>
                  <a:ext uri="{FF2B5EF4-FFF2-40B4-BE49-F238E27FC236}">
                    <a16:creationId xmlns:a16="http://schemas.microsoft.com/office/drawing/2014/main" id="{CEE83CC7-D89A-E81D-113E-7EC3817F4712}"/>
                  </a:ext>
                </a:extLst>
              </p:cNvPr>
              <p:cNvGrpSpPr/>
              <p:nvPr/>
            </p:nvGrpSpPr>
            <p:grpSpPr>
              <a:xfrm>
                <a:off x="409341" y="3386701"/>
                <a:ext cx="3558372" cy="276999"/>
                <a:chOff x="409341" y="1728250"/>
                <a:chExt cx="3558372" cy="276999"/>
              </a:xfrm>
            </p:grpSpPr>
            <p:sp>
              <p:nvSpPr>
                <p:cNvPr id="70" name="Rectángulo 69">
                  <a:extLst>
                    <a:ext uri="{FF2B5EF4-FFF2-40B4-BE49-F238E27FC236}">
                      <a16:creationId xmlns:a16="http://schemas.microsoft.com/office/drawing/2014/main" id="{4E940482-DDFD-3840-9459-33A8E4B17B6D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B538ADA2-E8FE-AD04-672C-A1301236325C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alérgenos (gluten, lactosa...)</a:t>
                  </a:r>
                </a:p>
              </p:txBody>
            </p:sp>
          </p:grpSp>
          <p:grpSp>
            <p:nvGrpSpPr>
              <p:cNvPr id="72" name="Grupo 71">
                <a:extLst>
                  <a:ext uri="{FF2B5EF4-FFF2-40B4-BE49-F238E27FC236}">
                    <a16:creationId xmlns:a16="http://schemas.microsoft.com/office/drawing/2014/main" id="{F20E5E4C-9001-FF59-C642-A606D916C312}"/>
                  </a:ext>
                </a:extLst>
              </p:cNvPr>
              <p:cNvGrpSpPr/>
              <p:nvPr/>
            </p:nvGrpSpPr>
            <p:grpSpPr>
              <a:xfrm>
                <a:off x="409341" y="3696239"/>
                <a:ext cx="3558372" cy="276999"/>
                <a:chOff x="409341" y="1728250"/>
                <a:chExt cx="3558372" cy="276999"/>
              </a:xfrm>
            </p:grpSpPr>
            <p:sp>
              <p:nvSpPr>
                <p:cNvPr id="73" name="Rectángulo 72">
                  <a:extLst>
                    <a:ext uri="{FF2B5EF4-FFF2-40B4-BE49-F238E27FC236}">
                      <a16:creationId xmlns:a16="http://schemas.microsoft.com/office/drawing/2014/main" id="{D467B416-34F7-5F81-5BF1-F397E170CB96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1A451EE1-3FCC-13E4-14C7-8F602FB1E7D4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claims</a:t>
                  </a:r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del </a:t>
                  </a:r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packaging</a:t>
                  </a:r>
                  <a:endPara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5" name="Grupo 74">
                <a:extLst>
                  <a:ext uri="{FF2B5EF4-FFF2-40B4-BE49-F238E27FC236}">
                    <a16:creationId xmlns:a16="http://schemas.microsoft.com/office/drawing/2014/main" id="{B97ED6DF-38D2-9642-E3ED-B7A4D6436932}"/>
                  </a:ext>
                </a:extLst>
              </p:cNvPr>
              <p:cNvGrpSpPr/>
              <p:nvPr/>
            </p:nvGrpSpPr>
            <p:grpSpPr>
              <a:xfrm>
                <a:off x="409341" y="4005777"/>
                <a:ext cx="3558372" cy="276999"/>
                <a:chOff x="409341" y="1728250"/>
                <a:chExt cx="3558372" cy="276999"/>
              </a:xfrm>
            </p:grpSpPr>
            <p:sp>
              <p:nvSpPr>
                <p:cNvPr id="76" name="Rectángulo 75">
                  <a:extLst>
                    <a:ext uri="{FF2B5EF4-FFF2-40B4-BE49-F238E27FC236}">
                      <a16:creationId xmlns:a16="http://schemas.microsoft.com/office/drawing/2014/main" id="{0D40F286-D947-8915-F927-977E87A2FC02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4514131A-E508-6E9A-1E8D-234D9F6AF0E2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% carne</a:t>
                  </a:r>
                </a:p>
              </p:txBody>
            </p:sp>
          </p:grpSp>
          <p:grpSp>
            <p:nvGrpSpPr>
              <p:cNvPr id="78" name="Grupo 77">
                <a:extLst>
                  <a:ext uri="{FF2B5EF4-FFF2-40B4-BE49-F238E27FC236}">
                    <a16:creationId xmlns:a16="http://schemas.microsoft.com/office/drawing/2014/main" id="{D658BD4A-BE9F-F66A-004A-A9309EBC951C}"/>
                  </a:ext>
                </a:extLst>
              </p:cNvPr>
              <p:cNvGrpSpPr/>
              <p:nvPr/>
            </p:nvGrpSpPr>
            <p:grpSpPr>
              <a:xfrm>
                <a:off x="409341" y="4315315"/>
                <a:ext cx="3558372" cy="276999"/>
                <a:chOff x="409341" y="1728250"/>
                <a:chExt cx="3558372" cy="276999"/>
              </a:xfrm>
            </p:grpSpPr>
            <p:sp>
              <p:nvSpPr>
                <p:cNvPr id="79" name="Rectángulo 78">
                  <a:extLst>
                    <a:ext uri="{FF2B5EF4-FFF2-40B4-BE49-F238E27FC236}">
                      <a16:creationId xmlns:a16="http://schemas.microsoft.com/office/drawing/2014/main" id="{0021FFAE-F36D-ABF7-6FE1-E5C909F12B24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2AAF8D1A-E318-B019-606F-DE4C4552826F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url_producto</a:t>
                  </a:r>
                  <a:endPara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0F4E7301-5B20-FA0B-5429-0F0F22CF7866}"/>
                  </a:ext>
                </a:extLst>
              </p:cNvPr>
              <p:cNvGrpSpPr/>
              <p:nvPr/>
            </p:nvGrpSpPr>
            <p:grpSpPr>
              <a:xfrm>
                <a:off x="409341" y="4624852"/>
                <a:ext cx="3558372" cy="276999"/>
                <a:chOff x="409341" y="1728250"/>
                <a:chExt cx="3558372" cy="276999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60BD44D1-E033-208F-0C03-AE27CC73ED4E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14115189-DE52-C234-F8F2-C1BBFF39D408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fecha_última_actualización</a:t>
                  </a:r>
                  <a:endPara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9CA4B0F0-A2E0-7F14-9CAE-9955CC3D1FA5}"/>
              </a:ext>
            </a:extLst>
          </p:cNvPr>
          <p:cNvGrpSpPr/>
          <p:nvPr/>
        </p:nvGrpSpPr>
        <p:grpSpPr>
          <a:xfrm>
            <a:off x="4627356" y="812206"/>
            <a:ext cx="4306009" cy="4191473"/>
            <a:chOff x="211845" y="823528"/>
            <a:chExt cx="4306009" cy="4191473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B097138E-DB07-DA1B-3313-ED147663FBC3}"/>
                </a:ext>
              </a:extLst>
            </p:cNvPr>
            <p:cNvSpPr/>
            <p:nvPr/>
          </p:nvSpPr>
          <p:spPr>
            <a:xfrm>
              <a:off x="211845" y="823528"/>
              <a:ext cx="4306009" cy="419147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1D8C41F2-4B9D-4D62-0CBE-BF41698B36C2}"/>
                </a:ext>
              </a:extLst>
            </p:cNvPr>
            <p:cNvSpPr txBox="1"/>
            <p:nvPr/>
          </p:nvSpPr>
          <p:spPr>
            <a:xfrm>
              <a:off x="333480" y="1295499"/>
              <a:ext cx="414147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Registro INMUTABLE de </a:t>
              </a:r>
              <a:r>
                <a:rPr lang="en-US" sz="1100" i="1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cada</a:t>
              </a: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i="1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modificación</a:t>
              </a: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i="1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detectada</a:t>
              </a: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— </a:t>
              </a:r>
              <a:r>
                <a:rPr lang="en-US" sz="1100" i="1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nunca</a:t>
              </a:r>
              <a:r>
                <a:rPr lang="en-US" sz="11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se </a:t>
              </a:r>
              <a:r>
                <a:rPr lang="en-US" sz="1100" i="1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sobreescribe</a:t>
              </a:r>
              <a:endParaRPr lang="en-US" sz="1100" dirty="0"/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0F06A87D-FB1D-15B5-D437-247CBEA618A9}"/>
                </a:ext>
              </a:extLst>
            </p:cNvPr>
            <p:cNvSpPr txBox="1"/>
            <p:nvPr/>
          </p:nvSpPr>
          <p:spPr>
            <a:xfrm>
              <a:off x="363035" y="919589"/>
              <a:ext cx="400241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600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TABLA: </a:t>
              </a:r>
              <a:r>
                <a:rPr lang="es-ES" sz="1600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historial_cambios</a:t>
              </a:r>
              <a:endParaRPr lang="es-ES" sz="1600" dirty="0">
                <a:solidFill>
                  <a:srgbClr val="C00000"/>
                </a:solidFill>
                <a:latin typeface="DIN Alternate" panose="020B0500000000000000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A591C777-6B1B-A5BF-3853-F7FDB73BD96A}"/>
                </a:ext>
              </a:extLst>
            </p:cNvPr>
            <p:cNvGrpSpPr/>
            <p:nvPr/>
          </p:nvGrpSpPr>
          <p:grpSpPr>
            <a:xfrm>
              <a:off x="409341" y="1809624"/>
              <a:ext cx="3558372" cy="2473152"/>
              <a:chOff x="409341" y="1809624"/>
              <a:chExt cx="3558372" cy="2473152"/>
            </a:xfrm>
          </p:grpSpPr>
          <p:grpSp>
            <p:nvGrpSpPr>
              <p:cNvPr id="91" name="Grupo 90">
                <a:extLst>
                  <a:ext uri="{FF2B5EF4-FFF2-40B4-BE49-F238E27FC236}">
                    <a16:creationId xmlns:a16="http://schemas.microsoft.com/office/drawing/2014/main" id="{56565335-84E6-55E2-11E9-17D8BED2CB65}"/>
                  </a:ext>
                </a:extLst>
              </p:cNvPr>
              <p:cNvGrpSpPr/>
              <p:nvPr/>
            </p:nvGrpSpPr>
            <p:grpSpPr>
              <a:xfrm>
                <a:off x="409341" y="1809624"/>
                <a:ext cx="3558372" cy="276999"/>
                <a:chOff x="409341" y="1728250"/>
                <a:chExt cx="3558372" cy="276999"/>
              </a:xfrm>
            </p:grpSpPr>
            <p:sp>
              <p:nvSpPr>
                <p:cNvPr id="119" name="Rectángulo 118">
                  <a:extLst>
                    <a:ext uri="{FF2B5EF4-FFF2-40B4-BE49-F238E27FC236}">
                      <a16:creationId xmlns:a16="http://schemas.microsoft.com/office/drawing/2014/main" id="{CCCF3E36-48A6-CDF4-3987-E1675231272D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20" name="CuadroTexto 119">
                  <a:extLst>
                    <a:ext uri="{FF2B5EF4-FFF2-40B4-BE49-F238E27FC236}">
                      <a16:creationId xmlns:a16="http://schemas.microsoft.com/office/drawing/2014/main" id="{6EE6406F-F343-9619-7E11-65175BABA3FB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id (</a:t>
                  </a:r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autoincremental</a:t>
                  </a:r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</a:p>
              </p:txBody>
            </p:sp>
          </p:grpSp>
          <p:grpSp>
            <p:nvGrpSpPr>
              <p:cNvPr id="92" name="Grupo 91">
                <a:extLst>
                  <a:ext uri="{FF2B5EF4-FFF2-40B4-BE49-F238E27FC236}">
                    <a16:creationId xmlns:a16="http://schemas.microsoft.com/office/drawing/2014/main" id="{1CADC136-6CEF-89E5-9E5F-2D0FB0EB0188}"/>
                  </a:ext>
                </a:extLst>
              </p:cNvPr>
              <p:cNvGrpSpPr/>
              <p:nvPr/>
            </p:nvGrpSpPr>
            <p:grpSpPr>
              <a:xfrm>
                <a:off x="409341" y="2119162"/>
                <a:ext cx="3558372" cy="276999"/>
                <a:chOff x="409341" y="1728250"/>
                <a:chExt cx="3558372" cy="276999"/>
              </a:xfrm>
            </p:grpSpPr>
            <p:sp>
              <p:nvSpPr>
                <p:cNvPr id="117" name="Rectángulo 116">
                  <a:extLst>
                    <a:ext uri="{FF2B5EF4-FFF2-40B4-BE49-F238E27FC236}">
                      <a16:creationId xmlns:a16="http://schemas.microsoft.com/office/drawing/2014/main" id="{F2F8A35E-9147-6935-4E1A-3A2A093436C6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18" name="CuadroTexto 117">
                  <a:extLst>
                    <a:ext uri="{FF2B5EF4-FFF2-40B4-BE49-F238E27FC236}">
                      <a16:creationId xmlns:a16="http://schemas.microsoft.com/office/drawing/2014/main" id="{826DE60B-17EF-58A2-91F4-21A61CC58525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competidor</a:t>
                  </a:r>
                </a:p>
              </p:txBody>
            </p:sp>
          </p:grpSp>
          <p:grpSp>
            <p:nvGrpSpPr>
              <p:cNvPr id="93" name="Grupo 92">
                <a:extLst>
                  <a:ext uri="{FF2B5EF4-FFF2-40B4-BE49-F238E27FC236}">
                    <a16:creationId xmlns:a16="http://schemas.microsoft.com/office/drawing/2014/main" id="{1AFB18F0-40DB-46E3-EC11-3B90FE5A7F58}"/>
                  </a:ext>
                </a:extLst>
              </p:cNvPr>
              <p:cNvGrpSpPr/>
              <p:nvPr/>
            </p:nvGrpSpPr>
            <p:grpSpPr>
              <a:xfrm>
                <a:off x="409341" y="2428700"/>
                <a:ext cx="3558372" cy="276999"/>
                <a:chOff x="409341" y="1728250"/>
                <a:chExt cx="3558372" cy="276999"/>
              </a:xfrm>
            </p:grpSpPr>
            <p:sp>
              <p:nvSpPr>
                <p:cNvPr id="115" name="Rectángulo 114">
                  <a:extLst>
                    <a:ext uri="{FF2B5EF4-FFF2-40B4-BE49-F238E27FC236}">
                      <a16:creationId xmlns:a16="http://schemas.microsoft.com/office/drawing/2014/main" id="{D8BA158B-3BB6-75AA-2CE5-8F28D23C290C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16" name="CuadroTexto 115">
                  <a:extLst>
                    <a:ext uri="{FF2B5EF4-FFF2-40B4-BE49-F238E27FC236}">
                      <a16:creationId xmlns:a16="http://schemas.microsoft.com/office/drawing/2014/main" id="{DAA0C72B-076A-5717-E463-8C5CED9A192F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producto_url</a:t>
                  </a:r>
                  <a:endPara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4" name="Grupo 93">
                <a:extLst>
                  <a:ext uri="{FF2B5EF4-FFF2-40B4-BE49-F238E27FC236}">
                    <a16:creationId xmlns:a16="http://schemas.microsoft.com/office/drawing/2014/main" id="{5A171240-4247-7657-79F4-83FB10A4E943}"/>
                  </a:ext>
                </a:extLst>
              </p:cNvPr>
              <p:cNvGrpSpPr/>
              <p:nvPr/>
            </p:nvGrpSpPr>
            <p:grpSpPr>
              <a:xfrm>
                <a:off x="409341" y="2738238"/>
                <a:ext cx="3558372" cy="276999"/>
                <a:chOff x="409341" y="1728250"/>
                <a:chExt cx="3558372" cy="276999"/>
              </a:xfrm>
            </p:grpSpPr>
            <p:sp>
              <p:nvSpPr>
                <p:cNvPr id="113" name="Rectángulo 112">
                  <a:extLst>
                    <a:ext uri="{FF2B5EF4-FFF2-40B4-BE49-F238E27FC236}">
                      <a16:creationId xmlns:a16="http://schemas.microsoft.com/office/drawing/2014/main" id="{5C567C21-0E2F-A1C6-2365-36D0793E1F1B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14" name="CuadroTexto 113">
                  <a:extLst>
                    <a:ext uri="{FF2B5EF4-FFF2-40B4-BE49-F238E27FC236}">
                      <a16:creationId xmlns:a16="http://schemas.microsoft.com/office/drawing/2014/main" id="{92152094-388B-4332-EC6C-E63726874FB3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campo_modificado</a:t>
                  </a:r>
                  <a:endPara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0914FD59-15D5-607B-2C43-EC09EFC7F668}"/>
                  </a:ext>
                </a:extLst>
              </p:cNvPr>
              <p:cNvGrpSpPr/>
              <p:nvPr/>
            </p:nvGrpSpPr>
            <p:grpSpPr>
              <a:xfrm>
                <a:off x="409341" y="3047775"/>
                <a:ext cx="3558372" cy="276999"/>
                <a:chOff x="409341" y="1728250"/>
                <a:chExt cx="3558372" cy="276999"/>
              </a:xfrm>
            </p:grpSpPr>
            <p:sp>
              <p:nvSpPr>
                <p:cNvPr id="111" name="Rectángulo 110">
                  <a:extLst>
                    <a:ext uri="{FF2B5EF4-FFF2-40B4-BE49-F238E27FC236}">
                      <a16:creationId xmlns:a16="http://schemas.microsoft.com/office/drawing/2014/main" id="{5226FA49-5451-B8C3-CCF1-5A8251B8701B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12" name="CuadroTexto 111">
                  <a:extLst>
                    <a:ext uri="{FF2B5EF4-FFF2-40B4-BE49-F238E27FC236}">
                      <a16:creationId xmlns:a16="http://schemas.microsoft.com/office/drawing/2014/main" id="{902979DA-F1F3-C195-90C2-122B219DAE9F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valor_anterior</a:t>
                  </a:r>
                  <a:endPara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6" name="Grupo 95">
                <a:extLst>
                  <a:ext uri="{FF2B5EF4-FFF2-40B4-BE49-F238E27FC236}">
                    <a16:creationId xmlns:a16="http://schemas.microsoft.com/office/drawing/2014/main" id="{04D278F6-687E-85A2-9362-E2E35E4933A9}"/>
                  </a:ext>
                </a:extLst>
              </p:cNvPr>
              <p:cNvGrpSpPr/>
              <p:nvPr/>
            </p:nvGrpSpPr>
            <p:grpSpPr>
              <a:xfrm>
                <a:off x="409341" y="3386701"/>
                <a:ext cx="3558372" cy="276999"/>
                <a:chOff x="409341" y="1728250"/>
                <a:chExt cx="3558372" cy="276999"/>
              </a:xfrm>
            </p:grpSpPr>
            <p:sp>
              <p:nvSpPr>
                <p:cNvPr id="109" name="Rectángulo 108">
                  <a:extLst>
                    <a:ext uri="{FF2B5EF4-FFF2-40B4-BE49-F238E27FC236}">
                      <a16:creationId xmlns:a16="http://schemas.microsoft.com/office/drawing/2014/main" id="{F1A6865E-EDA5-3AE1-2858-EF48644F4E0E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3E1F0C36-CA0D-D726-9827-4D1FF87A9081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valor_nuevo</a:t>
                  </a:r>
                  <a:endPara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7" name="Grupo 96">
                <a:extLst>
                  <a:ext uri="{FF2B5EF4-FFF2-40B4-BE49-F238E27FC236}">
                    <a16:creationId xmlns:a16="http://schemas.microsoft.com/office/drawing/2014/main" id="{251669B5-1037-8395-4013-9357556E233B}"/>
                  </a:ext>
                </a:extLst>
              </p:cNvPr>
              <p:cNvGrpSpPr/>
              <p:nvPr/>
            </p:nvGrpSpPr>
            <p:grpSpPr>
              <a:xfrm>
                <a:off x="409341" y="3696239"/>
                <a:ext cx="3558372" cy="276999"/>
                <a:chOff x="409341" y="1728250"/>
                <a:chExt cx="3558372" cy="276999"/>
              </a:xfrm>
            </p:grpSpPr>
            <p:sp>
              <p:nvSpPr>
                <p:cNvPr id="107" name="Rectángulo 106">
                  <a:extLst>
                    <a:ext uri="{FF2B5EF4-FFF2-40B4-BE49-F238E27FC236}">
                      <a16:creationId xmlns:a16="http://schemas.microsoft.com/office/drawing/2014/main" id="{A5CF36D6-44CF-F981-90DA-5D2512FE6247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08" name="CuadroTexto 107">
                  <a:extLst>
                    <a:ext uri="{FF2B5EF4-FFF2-40B4-BE49-F238E27FC236}">
                      <a16:creationId xmlns:a16="http://schemas.microsoft.com/office/drawing/2014/main" id="{B902F4AB-B87B-0759-880C-2F7D8DCD3F1B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fecha_cambio</a:t>
                  </a:r>
                  <a:endParaRPr lang="es-E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8" name="Grupo 97">
                <a:extLst>
                  <a:ext uri="{FF2B5EF4-FFF2-40B4-BE49-F238E27FC236}">
                    <a16:creationId xmlns:a16="http://schemas.microsoft.com/office/drawing/2014/main" id="{35319123-6146-6828-BFB8-D6FA0980CF68}"/>
                  </a:ext>
                </a:extLst>
              </p:cNvPr>
              <p:cNvGrpSpPr/>
              <p:nvPr/>
            </p:nvGrpSpPr>
            <p:grpSpPr>
              <a:xfrm>
                <a:off x="409341" y="4005777"/>
                <a:ext cx="3558372" cy="276999"/>
                <a:chOff x="409341" y="1728250"/>
                <a:chExt cx="3558372" cy="276999"/>
              </a:xfrm>
            </p:grpSpPr>
            <p:sp>
              <p:nvSpPr>
                <p:cNvPr id="105" name="Rectángulo 104">
                  <a:extLst>
                    <a:ext uri="{FF2B5EF4-FFF2-40B4-BE49-F238E27FC236}">
                      <a16:creationId xmlns:a16="http://schemas.microsoft.com/office/drawing/2014/main" id="{DF7CB02D-2409-E9BC-CF4A-F239AE29AE27}"/>
                    </a:ext>
                  </a:extLst>
                </p:cNvPr>
                <p:cNvSpPr/>
                <p:nvPr/>
              </p:nvSpPr>
              <p:spPr>
                <a:xfrm>
                  <a:off x="409341" y="1778822"/>
                  <a:ext cx="163668" cy="175855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ES" sz="1300" dirty="0"/>
                </a:p>
              </p:txBody>
            </p:sp>
            <p:sp>
              <p:nvSpPr>
                <p:cNvPr id="106" name="CuadroTexto 105">
                  <a:extLst>
                    <a:ext uri="{FF2B5EF4-FFF2-40B4-BE49-F238E27FC236}">
                      <a16:creationId xmlns:a16="http://schemas.microsoft.com/office/drawing/2014/main" id="{D5B3007E-17BC-834B-4374-A2BEFF9F60CE}"/>
                    </a:ext>
                  </a:extLst>
                </p:cNvPr>
                <p:cNvSpPr txBox="1"/>
                <p:nvPr/>
              </p:nvSpPr>
              <p:spPr>
                <a:xfrm>
                  <a:off x="638668" y="1728250"/>
                  <a:ext cx="332904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tipo_cambio</a:t>
                  </a:r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(ingredientes/</a:t>
                  </a:r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nutric</a:t>
                  </a:r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./</a:t>
                  </a:r>
                  <a:r>
                    <a:rPr lang="es-ES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claims</a:t>
                  </a:r>
                  <a:r>
                    <a:rPr lang="es-ES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4432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ECBE-F4D3-A922-1E9D-07D966F1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9BDF9FED-9CDD-C210-9489-474F1755A0A4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C389B7-0545-2384-90FA-A6FFCFC8C02F}"/>
              </a:ext>
            </a:extLst>
          </p:cNvPr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Orquestación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con n8n</a:t>
            </a:r>
            <a:endParaRPr lang="en-US" sz="1800" dirty="0">
              <a:latin typeface="DIN Alternate" panose="020B0500000000000000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7B2C59-7CBC-7C85-D162-4AEFFD65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148" y="94554"/>
            <a:ext cx="919246" cy="459623"/>
          </a:xfrm>
          <a:prstGeom prst="rect">
            <a:avLst/>
          </a:prstGeom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6C78F6FA-8EF9-A6CA-5069-873A6D888137}"/>
              </a:ext>
            </a:extLst>
          </p:cNvPr>
          <p:cNvSpPr/>
          <p:nvPr/>
        </p:nvSpPr>
        <p:spPr>
          <a:xfrm>
            <a:off x="274320" y="66148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b="1" dirty="0" err="1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Workflow</a:t>
            </a:r>
            <a:r>
              <a:rPr lang="es-ES" sz="16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1 — Ciclo de extracción (se ejecuta cada 6-12h)</a:t>
            </a:r>
            <a:endParaRPr lang="en-US" sz="16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1E6FA37-850D-C0D8-CF91-EE16A7DC4830}"/>
              </a:ext>
            </a:extLst>
          </p:cNvPr>
          <p:cNvSpPr/>
          <p:nvPr/>
        </p:nvSpPr>
        <p:spPr>
          <a:xfrm>
            <a:off x="274320" y="1209735"/>
            <a:ext cx="1330785" cy="1155908"/>
          </a:xfrm>
          <a:prstGeom prst="rect">
            <a:avLst/>
          </a:prstGeom>
          <a:solidFill>
            <a:srgbClr val="F9DE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Cron </a:t>
            </a:r>
          </a:p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Trigger</a:t>
            </a:r>
          </a:p>
          <a:p>
            <a:pPr algn="ctr"/>
            <a:endParaRPr lang="es-E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algn="ctr"/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DIN Alternate" panose="020B0500000000000000" pitchFamily="34" charset="0"/>
              </a:rPr>
              <a:t>Cada 6-12h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DEED46D-B5B4-B37B-1433-A5D7ED8031DD}"/>
              </a:ext>
            </a:extLst>
          </p:cNvPr>
          <p:cNvSpPr/>
          <p:nvPr/>
        </p:nvSpPr>
        <p:spPr>
          <a:xfrm>
            <a:off x="1695081" y="1209734"/>
            <a:ext cx="1330785" cy="1155908"/>
          </a:xfrm>
          <a:prstGeom prst="rect">
            <a:avLst/>
          </a:prstGeom>
          <a:solidFill>
            <a:srgbClr val="F9DE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HTTP</a:t>
            </a:r>
          </a:p>
          <a:p>
            <a:pPr algn="ctr"/>
            <a:r>
              <a:rPr lang="es-ES" sz="1400" dirty="0" err="1">
                <a:solidFill>
                  <a:srgbClr val="C00000"/>
                </a:solidFill>
                <a:latin typeface="DIN Alternate" panose="020B0500000000000000" pitchFamily="34" charset="0"/>
              </a:rPr>
              <a:t>Request</a:t>
            </a:r>
            <a:endParaRPr lang="es-E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algn="ctr"/>
            <a:endParaRPr lang="es-E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algn="ctr"/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DIN Alternate" panose="020B0500000000000000" pitchFamily="34" charset="0"/>
              </a:rPr>
              <a:t>Llama al </a:t>
            </a:r>
            <a:r>
              <a:rPr lang="es-E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IN Alternate" panose="020B0500000000000000" pitchFamily="34" charset="0"/>
              </a:rPr>
              <a:t>scraper</a:t>
            </a:r>
            <a:endParaRPr lang="es-ES" sz="1100" dirty="0">
              <a:solidFill>
                <a:schemeClr val="tx1">
                  <a:lumMod val="65000"/>
                  <a:lumOff val="35000"/>
                </a:schemeClr>
              </a:solidFill>
              <a:latin typeface="DIN Alternate" panose="020B0500000000000000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7675AF4-B726-ABE6-4D42-71E06539629F}"/>
              </a:ext>
            </a:extLst>
          </p:cNvPr>
          <p:cNvSpPr/>
          <p:nvPr/>
        </p:nvSpPr>
        <p:spPr>
          <a:xfrm>
            <a:off x="3115842" y="1209735"/>
            <a:ext cx="1330785" cy="1155908"/>
          </a:xfrm>
          <a:prstGeom prst="rect">
            <a:avLst/>
          </a:prstGeom>
          <a:solidFill>
            <a:srgbClr val="F9DE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Claude</a:t>
            </a:r>
          </a:p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API</a:t>
            </a:r>
          </a:p>
          <a:p>
            <a:pPr algn="ctr"/>
            <a:endParaRPr lang="es-E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algn="ctr"/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DIN Alternate" panose="020B0500000000000000" pitchFamily="34" charset="0"/>
              </a:rPr>
              <a:t>Extrae datos IA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20011D8-68AE-62A6-79CF-5AA8D4BF437E}"/>
              </a:ext>
            </a:extLst>
          </p:cNvPr>
          <p:cNvSpPr/>
          <p:nvPr/>
        </p:nvSpPr>
        <p:spPr>
          <a:xfrm>
            <a:off x="4536603" y="1209734"/>
            <a:ext cx="1330785" cy="1155908"/>
          </a:xfrm>
          <a:prstGeom prst="rect">
            <a:avLst/>
          </a:prstGeom>
          <a:solidFill>
            <a:srgbClr val="F9DE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Comparar</a:t>
            </a:r>
          </a:p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con BD</a:t>
            </a:r>
          </a:p>
          <a:p>
            <a:pPr algn="ctr"/>
            <a:endParaRPr lang="es-E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algn="ctr"/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DIN Alternate" panose="020B0500000000000000" pitchFamily="34" charset="0"/>
              </a:rPr>
              <a:t>¿Hay cambio?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6F699B5-C20C-B554-8CA7-A4170787491F}"/>
              </a:ext>
            </a:extLst>
          </p:cNvPr>
          <p:cNvSpPr/>
          <p:nvPr/>
        </p:nvSpPr>
        <p:spPr>
          <a:xfrm>
            <a:off x="5957364" y="1209733"/>
            <a:ext cx="1330785" cy="1155908"/>
          </a:xfrm>
          <a:prstGeom prst="rect">
            <a:avLst/>
          </a:prstGeom>
          <a:solidFill>
            <a:srgbClr val="F9DE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Guardar</a:t>
            </a:r>
          </a:p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en BD</a:t>
            </a:r>
          </a:p>
          <a:p>
            <a:pPr algn="ctr"/>
            <a:endParaRPr lang="es-E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algn="ctr"/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DIN Alternate" panose="020B0500000000000000" pitchFamily="34" charset="0"/>
              </a:rPr>
              <a:t>Actualiza tabla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05E8A44-1DC3-A630-F373-1C0DE0F55A4D}"/>
              </a:ext>
            </a:extLst>
          </p:cNvPr>
          <p:cNvSpPr/>
          <p:nvPr/>
        </p:nvSpPr>
        <p:spPr>
          <a:xfrm>
            <a:off x="7378125" y="1209734"/>
            <a:ext cx="1330785" cy="1155908"/>
          </a:xfrm>
          <a:prstGeom prst="rect">
            <a:avLst/>
          </a:prstGeom>
          <a:solidFill>
            <a:srgbClr val="F9DE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Enviar</a:t>
            </a:r>
          </a:p>
          <a:p>
            <a:pPr algn="ctr"/>
            <a:r>
              <a:rPr lang="es-ES" sz="1400" dirty="0">
                <a:solidFill>
                  <a:srgbClr val="C00000"/>
                </a:solidFill>
                <a:latin typeface="DIN Alternate" panose="020B0500000000000000" pitchFamily="34" charset="0"/>
              </a:rPr>
              <a:t>Alerta</a:t>
            </a:r>
          </a:p>
          <a:p>
            <a:pPr algn="ctr"/>
            <a:endParaRPr lang="es-ES" sz="1400" dirty="0">
              <a:solidFill>
                <a:srgbClr val="C00000"/>
              </a:solidFill>
              <a:latin typeface="DIN Alternate" panose="020B0500000000000000" pitchFamily="34" charset="0"/>
            </a:endParaRPr>
          </a:p>
          <a:p>
            <a:pPr algn="ctr"/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DIN Alternate" panose="020B0500000000000000" pitchFamily="34" charset="0"/>
              </a:rPr>
              <a:t>Si hay cambio</a:t>
            </a:r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8BD927E5-F63F-7C2B-9320-0CEF86C6AEF5}"/>
              </a:ext>
            </a:extLst>
          </p:cNvPr>
          <p:cNvSpPr/>
          <p:nvPr/>
        </p:nvSpPr>
        <p:spPr>
          <a:xfrm>
            <a:off x="274320" y="2458155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b="1" dirty="0" err="1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Workflow</a:t>
            </a:r>
            <a:r>
              <a:rPr lang="es-ES" sz="16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2  — Tipos de alerta según urgencia del cambio detectado</a:t>
            </a:r>
            <a:endParaRPr lang="en-US" sz="16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CF48F675-E349-F15F-9025-2F90EDE31475}"/>
              </a:ext>
            </a:extLst>
          </p:cNvPr>
          <p:cNvGrpSpPr/>
          <p:nvPr/>
        </p:nvGrpSpPr>
        <p:grpSpPr>
          <a:xfrm>
            <a:off x="209757" y="3000283"/>
            <a:ext cx="8659923" cy="402842"/>
            <a:chOff x="209757" y="3201262"/>
            <a:chExt cx="8659923" cy="402842"/>
          </a:xfrm>
        </p:grpSpPr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26B08562-16C8-8C27-D586-9E360E45DE9A}"/>
                </a:ext>
              </a:extLst>
            </p:cNvPr>
            <p:cNvSpPr txBox="1"/>
            <p:nvPr/>
          </p:nvSpPr>
          <p:spPr>
            <a:xfrm>
              <a:off x="209757" y="3264184"/>
              <a:ext cx="2841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Ingredientes o alérgenos modificados</a:t>
              </a: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EE5A4DA-4963-E4E0-F8EE-A03D2908AB9F}"/>
                </a:ext>
              </a:extLst>
            </p:cNvPr>
            <p:cNvSpPr txBox="1"/>
            <p:nvPr/>
          </p:nvSpPr>
          <p:spPr>
            <a:xfrm>
              <a:off x="3572017" y="3264184"/>
              <a:ext cx="2841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Email inmediato al equipo de etiquetado</a:t>
              </a:r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5622FD15-136B-552D-8C6A-FDB8D8E289CF}"/>
                </a:ext>
              </a:extLst>
            </p:cNvPr>
            <p:cNvSpPr/>
            <p:nvPr/>
          </p:nvSpPr>
          <p:spPr>
            <a:xfrm>
              <a:off x="7630510" y="3201262"/>
              <a:ext cx="1239170" cy="40284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latin typeface="DIN Alternate" panose="020B0500000000000000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CRÍTICA</a:t>
              </a:r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EE383212-03D1-3E25-6A03-F93028ABBB81}"/>
              </a:ext>
            </a:extLst>
          </p:cNvPr>
          <p:cNvGrpSpPr/>
          <p:nvPr/>
        </p:nvGrpSpPr>
        <p:grpSpPr>
          <a:xfrm>
            <a:off x="209757" y="3523754"/>
            <a:ext cx="8659923" cy="402842"/>
            <a:chOff x="209757" y="3647254"/>
            <a:chExt cx="8659923" cy="402842"/>
          </a:xfrm>
        </p:grpSpPr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5835F17D-2E69-245C-4868-837503A5B6BA}"/>
                </a:ext>
              </a:extLst>
            </p:cNvPr>
            <p:cNvSpPr txBox="1"/>
            <p:nvPr/>
          </p:nvSpPr>
          <p:spPr>
            <a:xfrm>
              <a:off x="209757" y="3710176"/>
              <a:ext cx="2841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Valores nutricionales modificados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F4ED24A5-8631-7321-7FA1-E3FA5C661464}"/>
                </a:ext>
              </a:extLst>
            </p:cNvPr>
            <p:cNvSpPr txBox="1"/>
            <p:nvPr/>
          </p:nvSpPr>
          <p:spPr>
            <a:xfrm>
              <a:off x="3572017" y="3710176"/>
              <a:ext cx="2841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Email inmediato al equipo de etiquetado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4A449A49-EF59-C62D-03C4-9B681844494B}"/>
                </a:ext>
              </a:extLst>
            </p:cNvPr>
            <p:cNvSpPr/>
            <p:nvPr/>
          </p:nvSpPr>
          <p:spPr>
            <a:xfrm>
              <a:off x="7630510" y="3647254"/>
              <a:ext cx="1239170" cy="4028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latin typeface="DIN Alternate" panose="020B0500000000000000" pitchFamily="34" charset="0"/>
                </a:rPr>
                <a:t>ALTA</a:t>
              </a: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EA590950-0A33-040A-BE45-D2FCBF8A457B}"/>
              </a:ext>
            </a:extLst>
          </p:cNvPr>
          <p:cNvGrpSpPr/>
          <p:nvPr/>
        </p:nvGrpSpPr>
        <p:grpSpPr>
          <a:xfrm>
            <a:off x="225898" y="4047225"/>
            <a:ext cx="8659923" cy="402842"/>
            <a:chOff x="209757" y="4087080"/>
            <a:chExt cx="8659923" cy="402842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2C27B743-EF40-A98E-8D58-0AB02C657163}"/>
                </a:ext>
              </a:extLst>
            </p:cNvPr>
            <p:cNvSpPr txBox="1"/>
            <p:nvPr/>
          </p:nvSpPr>
          <p:spPr>
            <a:xfrm>
              <a:off x="209757" y="4150002"/>
              <a:ext cx="2841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Nuevo producto detectado en catálogo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3C1BA83A-D3B2-7273-0564-DF8DB993EBC6}"/>
                </a:ext>
              </a:extLst>
            </p:cNvPr>
            <p:cNvSpPr txBox="1"/>
            <p:nvPr/>
          </p:nvSpPr>
          <p:spPr>
            <a:xfrm>
              <a:off x="3572017" y="4150002"/>
              <a:ext cx="2841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20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Resumen diario por email</a:t>
              </a:r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17D2A652-0722-F114-261F-F48FB8F7167B}"/>
                </a:ext>
              </a:extLst>
            </p:cNvPr>
            <p:cNvSpPr/>
            <p:nvPr/>
          </p:nvSpPr>
          <p:spPr>
            <a:xfrm>
              <a:off x="7630510" y="4087080"/>
              <a:ext cx="1239170" cy="40284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latin typeface="DIN Alternate" panose="020B0500000000000000" pitchFamily="34" charset="0"/>
                </a:rPr>
                <a:t>MEDIA</a:t>
              </a:r>
            </a:p>
          </p:txBody>
        </p:sp>
      </p:grpSp>
      <p:sp>
        <p:nvSpPr>
          <p:cNvPr id="7" name="Text 8">
            <a:extLst>
              <a:ext uri="{FF2B5EF4-FFF2-40B4-BE49-F238E27FC236}">
                <a16:creationId xmlns:a16="http://schemas.microsoft.com/office/drawing/2014/main" id="{A6F55B5A-E171-8BCF-6EDE-5080DFFA60D9}"/>
              </a:ext>
            </a:extLst>
          </p:cNvPr>
          <p:cNvSpPr/>
          <p:nvPr/>
        </p:nvSpPr>
        <p:spPr>
          <a:xfrm>
            <a:off x="1571860" y="1698330"/>
            <a:ext cx="173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775C020-8BFA-BF04-516E-709B69F310B8}"/>
              </a:ext>
            </a:extLst>
          </p:cNvPr>
          <p:cNvSpPr/>
          <p:nvPr/>
        </p:nvSpPr>
        <p:spPr>
          <a:xfrm>
            <a:off x="2994712" y="1698330"/>
            <a:ext cx="173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D4A9C93-E04F-419F-444E-EAEA69C88C5D}"/>
              </a:ext>
            </a:extLst>
          </p:cNvPr>
          <p:cNvSpPr/>
          <p:nvPr/>
        </p:nvSpPr>
        <p:spPr>
          <a:xfrm>
            <a:off x="4419760" y="1698330"/>
            <a:ext cx="173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EA0459F-45BE-E42F-581F-61EEF8024B9C}"/>
              </a:ext>
            </a:extLst>
          </p:cNvPr>
          <p:cNvSpPr/>
          <p:nvPr/>
        </p:nvSpPr>
        <p:spPr>
          <a:xfrm>
            <a:off x="5841606" y="1698330"/>
            <a:ext cx="173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F250A23-AD4A-4245-5C81-31D6BF4801E0}"/>
              </a:ext>
            </a:extLst>
          </p:cNvPr>
          <p:cNvSpPr/>
          <p:nvPr/>
        </p:nvSpPr>
        <p:spPr>
          <a:xfrm>
            <a:off x="7257567" y="1698330"/>
            <a:ext cx="173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>
              <a:solidFill>
                <a:srgbClr val="C00000"/>
              </a:solidFill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EF3E755E-B121-64E4-2542-746568EEC54A}"/>
              </a:ext>
            </a:extLst>
          </p:cNvPr>
          <p:cNvGrpSpPr/>
          <p:nvPr/>
        </p:nvGrpSpPr>
        <p:grpSpPr>
          <a:xfrm>
            <a:off x="225898" y="4570696"/>
            <a:ext cx="8659923" cy="402842"/>
            <a:chOff x="209757" y="4087080"/>
            <a:chExt cx="8659923" cy="402842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E72A9BB9-269A-3D29-B0D6-CAACB4C75D66}"/>
                </a:ext>
              </a:extLst>
            </p:cNvPr>
            <p:cNvSpPr txBox="1"/>
            <p:nvPr/>
          </p:nvSpPr>
          <p:spPr>
            <a:xfrm>
              <a:off x="209757" y="4150002"/>
              <a:ext cx="2841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Cambio </a:t>
              </a:r>
              <a:r>
                <a:rPr lang="en-US" sz="1200" b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</a:t>
              </a:r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claims, </a:t>
              </a:r>
              <a:r>
                <a:rPr lang="en-US" sz="1200" b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descripción</a:t>
              </a:r>
              <a:r>
                <a:rPr lang="en-US" sz="12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 imagen</a:t>
              </a:r>
              <a:endParaRPr lang="en-US" sz="1200" b="1" dirty="0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FE56C97A-504F-A2BC-1551-BA314A116326}"/>
                </a:ext>
              </a:extLst>
            </p:cNvPr>
            <p:cNvSpPr txBox="1"/>
            <p:nvPr/>
          </p:nvSpPr>
          <p:spPr>
            <a:xfrm>
              <a:off x="3572017" y="4150002"/>
              <a:ext cx="284152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Informe </a:t>
              </a:r>
              <a:r>
                <a:rPr lang="en-US" sz="1200" i="1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semanal</a:t>
              </a:r>
              <a:r>
                <a:rPr lang="en-US" sz="12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consolidado</a:t>
              </a:r>
              <a:endParaRPr lang="en-US" sz="1200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59E9FDE3-DD07-CA0B-EEB7-51B5B532860E}"/>
                </a:ext>
              </a:extLst>
            </p:cNvPr>
            <p:cNvSpPr/>
            <p:nvPr/>
          </p:nvSpPr>
          <p:spPr>
            <a:xfrm>
              <a:off x="7630510" y="4087080"/>
              <a:ext cx="1239170" cy="40284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IN Alternate" panose="020B0500000000000000" pitchFamily="34" charset="0"/>
                </a:rPr>
                <a:t>BAJA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1322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7752036-5550-423A-0058-B60EDD1AC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7" y="777195"/>
            <a:ext cx="5419676" cy="4255159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CA8C1B23-7EB1-9B3A-5413-9BA259334C1D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1267A4D-52BC-9805-8E63-EEF7F5E05A26}"/>
              </a:ext>
            </a:extLst>
          </p:cNvPr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Experiencia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— El email de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dirty="0">
              <a:latin typeface="DIN Alternate" panose="020B0500000000000000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3572D5-4F8D-26C3-BF62-8E74DE672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148" y="94554"/>
            <a:ext cx="919246" cy="459623"/>
          </a:xfrm>
          <a:prstGeom prst="rect">
            <a:avLst/>
          </a:prstGeom>
        </p:spPr>
      </p:pic>
      <p:sp>
        <p:nvSpPr>
          <p:cNvPr id="8" name="Text 26">
            <a:extLst>
              <a:ext uri="{FF2B5EF4-FFF2-40B4-BE49-F238E27FC236}">
                <a16:creationId xmlns:a16="http://schemas.microsoft.com/office/drawing/2014/main" id="{A64F8C2E-067D-6C71-FF68-167292E0846E}"/>
              </a:ext>
            </a:extLst>
          </p:cNvPr>
          <p:cNvSpPr/>
          <p:nvPr/>
        </p:nvSpPr>
        <p:spPr>
          <a:xfrm>
            <a:off x="5595182" y="1464537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Asunto con nivel de urgencia y nombre de producto para identificar sin abrir</a:t>
            </a:r>
            <a:endParaRPr lang="en-US" sz="1000" dirty="0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A44F279D-94F5-33D5-0D5F-A83E622B1AB3}"/>
              </a:ext>
            </a:extLst>
          </p:cNvPr>
          <p:cNvSpPr/>
          <p:nvPr/>
        </p:nvSpPr>
        <p:spPr>
          <a:xfrm>
            <a:off x="5595182" y="2223489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Banner rojo para alertas críticas (ingredientes/alérgenos)</a:t>
            </a:r>
            <a:endParaRPr lang="en-US" sz="1000" dirty="0"/>
          </a:p>
        </p:txBody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B6E4A43B-910B-6A81-B03E-08B1C8EEEDCA}"/>
              </a:ext>
            </a:extLst>
          </p:cNvPr>
          <p:cNvSpPr/>
          <p:nvPr/>
        </p:nvSpPr>
        <p:spPr>
          <a:xfrm>
            <a:off x="5595182" y="3357345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Comparativa exacta: campo, valor anterior y nuevo. Sin ambigüedad.</a:t>
            </a:r>
            <a:endParaRPr lang="en-US" sz="1000" dirty="0"/>
          </a:p>
        </p:txBody>
      </p:sp>
      <p:sp>
        <p:nvSpPr>
          <p:cNvPr id="11" name="Text 29">
            <a:extLst>
              <a:ext uri="{FF2B5EF4-FFF2-40B4-BE49-F238E27FC236}">
                <a16:creationId xmlns:a16="http://schemas.microsoft.com/office/drawing/2014/main" id="{526E3B2A-A0CC-D83E-13BC-B7CB223DD3B9}"/>
              </a:ext>
            </a:extLst>
          </p:cNvPr>
          <p:cNvSpPr/>
          <p:nvPr/>
        </p:nvSpPr>
        <p:spPr>
          <a:xfrm>
            <a:off x="5595182" y="4253457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Enlace directo al dashboard sin necesidad de buscar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1423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F45A-F51C-98C6-7977-D90E01D8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70E99740-1015-75DE-4031-FE29AB27B06C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B2A2534-4BB0-AEF9-3A4F-496CC1085B53}"/>
              </a:ext>
            </a:extLst>
          </p:cNvPr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Experiencia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b="1" dirty="0">
                <a:solidFill>
                  <a:srgbClr val="FFFFFF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 dashboard</a:t>
            </a:r>
            <a:endParaRPr lang="en-US" dirty="0">
              <a:latin typeface="DIN Alternate" panose="020B0500000000000000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DB7C0CF-F1DB-3FE7-C03B-FE8D5D753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148" y="94554"/>
            <a:ext cx="919246" cy="459623"/>
          </a:xfrm>
          <a:prstGeom prst="rect">
            <a:avLst/>
          </a:prstGeom>
        </p:spPr>
      </p:pic>
      <p:grpSp>
        <p:nvGrpSpPr>
          <p:cNvPr id="44" name="Grupo 43">
            <a:extLst>
              <a:ext uri="{FF2B5EF4-FFF2-40B4-BE49-F238E27FC236}">
                <a16:creationId xmlns:a16="http://schemas.microsoft.com/office/drawing/2014/main" id="{B12F2C9C-E25A-53E4-FA29-FF42F5739E69}"/>
              </a:ext>
            </a:extLst>
          </p:cNvPr>
          <p:cNvGrpSpPr/>
          <p:nvPr/>
        </p:nvGrpSpPr>
        <p:grpSpPr>
          <a:xfrm>
            <a:off x="96550" y="954167"/>
            <a:ext cx="2891428" cy="1762660"/>
            <a:chOff x="96550" y="806490"/>
            <a:chExt cx="2891428" cy="176266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1A33B091-6D72-F617-29E1-1CD0ED3906E8}"/>
                </a:ext>
              </a:extLst>
            </p:cNvPr>
            <p:cNvSpPr/>
            <p:nvPr/>
          </p:nvSpPr>
          <p:spPr>
            <a:xfrm>
              <a:off x="96550" y="806490"/>
              <a:ext cx="2891428" cy="176266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AFDB3FA9-82D8-B3C0-3135-FB13DAAD7E30}"/>
                </a:ext>
              </a:extLst>
            </p:cNvPr>
            <p:cNvSpPr/>
            <p:nvPr/>
          </p:nvSpPr>
          <p:spPr>
            <a:xfrm>
              <a:off x="254447" y="899866"/>
              <a:ext cx="215253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Alertas</a:t>
              </a:r>
              <a:r>
                <a:rPr lang="en-US" sz="1600" b="1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activas</a:t>
              </a:r>
              <a:r>
                <a:rPr lang="en-US" sz="1600" b="1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 </a:t>
              </a:r>
              <a:endParaRPr lang="en-US" sz="1600" dirty="0">
                <a:solidFill>
                  <a:srgbClr val="C00000"/>
                </a:solidFill>
                <a:latin typeface="DIN Alternate" panose="020B0500000000000000" pitchFamily="34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04EF549A-6577-5B61-8D3C-07D201CAD8C2}"/>
                </a:ext>
              </a:extLst>
            </p:cNvPr>
            <p:cNvSpPr txBox="1"/>
            <p:nvPr/>
          </p:nvSpPr>
          <p:spPr>
            <a:xfrm>
              <a:off x="152207" y="1464039"/>
              <a:ext cx="27102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Lista de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todos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cambios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pendientes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revisar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ordenados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urgencia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Indica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marca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producto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campo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modificado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y hora de </a:t>
              </a:r>
              <a:r>
                <a:rPr lang="en-US" sz="1200" i="1" dirty="0" err="1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detección</a:t>
              </a:r>
              <a:r>
                <a:rPr lang="en-US" sz="1200" i="1" dirty="0">
                  <a:solidFill>
                    <a:schemeClr val="bg2">
                      <a:lumMod val="2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00" i="1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1" name="Gráfico 30" descr="Advertencia contorno">
              <a:extLst>
                <a:ext uri="{FF2B5EF4-FFF2-40B4-BE49-F238E27FC236}">
                  <a16:creationId xmlns:a16="http://schemas.microsoft.com/office/drawing/2014/main" id="{E885309E-2D18-E81E-D431-0F5045A1AE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49895" y="982503"/>
              <a:ext cx="291039" cy="291039"/>
            </a:xfrm>
            <a:prstGeom prst="rect">
              <a:avLst/>
            </a:prstGeom>
          </p:spPr>
        </p:pic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D110921B-FD4F-AFBA-E50F-F9BB9287F2A2}"/>
              </a:ext>
            </a:extLst>
          </p:cNvPr>
          <p:cNvGrpSpPr/>
          <p:nvPr/>
        </p:nvGrpSpPr>
        <p:grpSpPr>
          <a:xfrm>
            <a:off x="3125815" y="954166"/>
            <a:ext cx="2891428" cy="1762660"/>
            <a:chOff x="3125815" y="806489"/>
            <a:chExt cx="2891428" cy="176266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487A3498-C036-1D91-06A8-76DBB7F380D1}"/>
                </a:ext>
              </a:extLst>
            </p:cNvPr>
            <p:cNvSpPr/>
            <p:nvPr/>
          </p:nvSpPr>
          <p:spPr>
            <a:xfrm>
              <a:off x="3125815" y="806489"/>
              <a:ext cx="2891428" cy="176266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9FDADD74-D30A-7092-ECF0-8586F2E5607B}"/>
                </a:ext>
              </a:extLst>
            </p:cNvPr>
            <p:cNvSpPr/>
            <p:nvPr/>
          </p:nvSpPr>
          <p:spPr>
            <a:xfrm>
              <a:off x="3311908" y="899866"/>
              <a:ext cx="215253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Comparativa</a:t>
              </a:r>
              <a:r>
                <a:rPr lang="en-US" sz="1600" b="1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nutricional</a:t>
              </a:r>
              <a:endParaRPr lang="en-US" sz="1600" dirty="0">
                <a:solidFill>
                  <a:srgbClr val="C00000"/>
                </a:solidFill>
                <a:latin typeface="DIN Alternate" panose="020B0500000000000000" pitchFamily="34" charset="0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0FE5C0A-3A90-CE83-20C8-073A2276C529}"/>
                </a:ext>
              </a:extLst>
            </p:cNvPr>
            <p:cNvSpPr txBox="1"/>
            <p:nvPr/>
          </p:nvSpPr>
          <p:spPr>
            <a:xfrm>
              <a:off x="3216397" y="1464039"/>
              <a:ext cx="27102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Tabla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lado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lado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las 4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marcas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categoría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% carne, kcal,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proteínas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grasas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Con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indicador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visual de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qué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campo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cambió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00" i="1" dirty="0"/>
            </a:p>
          </p:txBody>
        </p:sp>
        <p:pic>
          <p:nvPicPr>
            <p:cNvPr id="33" name="Gráfico 32" descr="Diagrama de Venn contorno">
              <a:extLst>
                <a:ext uri="{FF2B5EF4-FFF2-40B4-BE49-F238E27FC236}">
                  <a16:creationId xmlns:a16="http://schemas.microsoft.com/office/drawing/2014/main" id="{8DD3138B-11C4-08BA-FBB0-6AC8051364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64441" y="982503"/>
              <a:ext cx="350859" cy="350859"/>
            </a:xfrm>
            <a:prstGeom prst="rect">
              <a:avLst/>
            </a:prstGeom>
          </p:spPr>
        </p:pic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1E58E60E-CB76-566D-F6B9-8215ACAB6382}"/>
              </a:ext>
            </a:extLst>
          </p:cNvPr>
          <p:cNvGrpSpPr/>
          <p:nvPr/>
        </p:nvGrpSpPr>
        <p:grpSpPr>
          <a:xfrm>
            <a:off x="6155080" y="954165"/>
            <a:ext cx="2891428" cy="1762660"/>
            <a:chOff x="6155080" y="806488"/>
            <a:chExt cx="2891428" cy="1762660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8A01201A-FADA-F51A-9E5F-19333FC1AB61}"/>
                </a:ext>
              </a:extLst>
            </p:cNvPr>
            <p:cNvSpPr/>
            <p:nvPr/>
          </p:nvSpPr>
          <p:spPr>
            <a:xfrm>
              <a:off x="6155080" y="806488"/>
              <a:ext cx="2891428" cy="176266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Text 2">
              <a:extLst>
                <a:ext uri="{FF2B5EF4-FFF2-40B4-BE49-F238E27FC236}">
                  <a16:creationId xmlns:a16="http://schemas.microsoft.com/office/drawing/2014/main" id="{C27524BA-E046-B8F3-3C9E-2F53154E51DF}"/>
                </a:ext>
              </a:extLst>
            </p:cNvPr>
            <p:cNvSpPr/>
            <p:nvPr/>
          </p:nvSpPr>
          <p:spPr>
            <a:xfrm>
              <a:off x="6395882" y="899866"/>
              <a:ext cx="215253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Mapa de claims</a:t>
              </a:r>
              <a:endParaRPr lang="en-US" sz="1600" dirty="0">
                <a:solidFill>
                  <a:srgbClr val="C00000"/>
                </a:solidFill>
                <a:latin typeface="DIN Alternate" panose="020B0500000000000000" pitchFamily="34" charset="0"/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5E66A19F-F82D-4878-2CF5-D3B88C791FDF}"/>
                </a:ext>
              </a:extLst>
            </p:cNvPr>
            <p:cNvSpPr txBox="1"/>
            <p:nvPr/>
          </p:nvSpPr>
          <p:spPr>
            <a:xfrm>
              <a:off x="6285130" y="1464039"/>
              <a:ext cx="270666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Grid visual: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qué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claim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tiene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cada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marca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Permite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un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vistazo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quién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es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único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con 'Sin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nitritos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' o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quién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no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declara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'Sin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lactosa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'.</a:t>
              </a:r>
              <a:endParaRPr lang="en-US" sz="1200" i="1" dirty="0"/>
            </a:p>
          </p:txBody>
        </p:sp>
        <p:pic>
          <p:nvPicPr>
            <p:cNvPr id="37" name="Gráfico 36" descr="Lista de comprobación contorno">
              <a:extLst>
                <a:ext uri="{FF2B5EF4-FFF2-40B4-BE49-F238E27FC236}">
                  <a16:creationId xmlns:a16="http://schemas.microsoft.com/office/drawing/2014/main" id="{1C1B280C-C289-1C8B-C219-86C74146FA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75010" y="982503"/>
              <a:ext cx="315128" cy="315128"/>
            </a:xfrm>
            <a:prstGeom prst="rect">
              <a:avLst/>
            </a:prstGeom>
          </p:spPr>
        </p:pic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4F1EA1E6-6B83-7CA9-29CD-1A82433F6BE3}"/>
              </a:ext>
            </a:extLst>
          </p:cNvPr>
          <p:cNvGrpSpPr/>
          <p:nvPr/>
        </p:nvGrpSpPr>
        <p:grpSpPr>
          <a:xfrm>
            <a:off x="96550" y="2911573"/>
            <a:ext cx="2891428" cy="1762660"/>
            <a:chOff x="96550" y="2911573"/>
            <a:chExt cx="2891428" cy="1762660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D3AB09D0-757F-F85D-8952-78DF68627817}"/>
                </a:ext>
              </a:extLst>
            </p:cNvPr>
            <p:cNvSpPr/>
            <p:nvPr/>
          </p:nvSpPr>
          <p:spPr>
            <a:xfrm>
              <a:off x="96550" y="2911573"/>
              <a:ext cx="2891428" cy="176266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2ECE978B-4667-3389-A37F-2DE3C60961D4}"/>
                </a:ext>
              </a:extLst>
            </p:cNvPr>
            <p:cNvSpPr/>
            <p:nvPr/>
          </p:nvSpPr>
          <p:spPr>
            <a:xfrm>
              <a:off x="274320" y="2984794"/>
              <a:ext cx="215253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Historial</a:t>
              </a:r>
              <a:r>
                <a:rPr lang="en-US" sz="1600" b="1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cambios</a:t>
              </a:r>
              <a:endParaRPr lang="en-US" sz="1600" dirty="0">
                <a:solidFill>
                  <a:srgbClr val="C00000"/>
                </a:solidFill>
                <a:latin typeface="DIN Alternate" panose="020B0500000000000000" pitchFamily="34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B605B6D1-9DA7-1704-0B83-7D941FB63936}"/>
                </a:ext>
              </a:extLst>
            </p:cNvPr>
            <p:cNvSpPr txBox="1"/>
            <p:nvPr/>
          </p:nvSpPr>
          <p:spPr>
            <a:xfrm>
              <a:off x="203321" y="3552403"/>
              <a:ext cx="27102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Línea de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tiempo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todas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las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modificaciones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detectadas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últimos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meses. Filtrable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marca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categoría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tipo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cambio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00" i="1" dirty="0"/>
            </a:p>
          </p:txBody>
        </p:sp>
        <p:pic>
          <p:nvPicPr>
            <p:cNvPr id="39" name="Gráfico 38" descr="Historia contorno">
              <a:extLst>
                <a:ext uri="{FF2B5EF4-FFF2-40B4-BE49-F238E27FC236}">
                  <a16:creationId xmlns:a16="http://schemas.microsoft.com/office/drawing/2014/main" id="{EDB28552-F8BC-53E0-28A3-EFAAAA843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46146" y="3098998"/>
              <a:ext cx="280707" cy="280707"/>
            </a:xfrm>
            <a:prstGeom prst="rect">
              <a:avLst/>
            </a:prstGeom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D4899928-DB34-3180-FC22-1A1C523BEF41}"/>
              </a:ext>
            </a:extLst>
          </p:cNvPr>
          <p:cNvGrpSpPr/>
          <p:nvPr/>
        </p:nvGrpSpPr>
        <p:grpSpPr>
          <a:xfrm>
            <a:off x="3125815" y="2911572"/>
            <a:ext cx="2891428" cy="1762660"/>
            <a:chOff x="3125815" y="2911572"/>
            <a:chExt cx="2891428" cy="176266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45313FAB-C0BD-99E8-FA21-A73CF360AAE6}"/>
                </a:ext>
              </a:extLst>
            </p:cNvPr>
            <p:cNvSpPr/>
            <p:nvPr/>
          </p:nvSpPr>
          <p:spPr>
            <a:xfrm>
              <a:off x="3125815" y="2911572"/>
              <a:ext cx="2891428" cy="176266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Text 2">
              <a:extLst>
                <a:ext uri="{FF2B5EF4-FFF2-40B4-BE49-F238E27FC236}">
                  <a16:creationId xmlns:a16="http://schemas.microsoft.com/office/drawing/2014/main" id="{BD9996EE-1511-2921-CE16-3BD769E0A29F}"/>
                </a:ext>
              </a:extLst>
            </p:cNvPr>
            <p:cNvSpPr/>
            <p:nvPr/>
          </p:nvSpPr>
          <p:spPr>
            <a:xfrm>
              <a:off x="3380066" y="2984794"/>
              <a:ext cx="215253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Ficha</a:t>
              </a:r>
              <a:r>
                <a:rPr lang="en-US" sz="1600" b="1" dirty="0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producto</a:t>
              </a:r>
              <a:endParaRPr lang="en-US" sz="1600" dirty="0">
                <a:solidFill>
                  <a:srgbClr val="C00000"/>
                </a:solidFill>
                <a:latin typeface="DIN Alternate" panose="020B0500000000000000" pitchFamily="34" charset="0"/>
              </a:endParaRP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68239B48-0609-CF2E-7A3F-6841AF6929BA}"/>
                </a:ext>
              </a:extLst>
            </p:cNvPr>
            <p:cNvSpPr txBox="1"/>
            <p:nvPr/>
          </p:nvSpPr>
          <p:spPr>
            <a:xfrm>
              <a:off x="3267511" y="3552403"/>
              <a:ext cx="271026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Vista completa de un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ingredientes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actuales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con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cambios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resaltados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tabla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nutricional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claims y enlace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directo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 la web del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competidor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00" i="1" dirty="0"/>
            </a:p>
          </p:txBody>
        </p:sp>
        <p:pic>
          <p:nvPicPr>
            <p:cNvPr id="41" name="Gráfico 40" descr="Inventario de búsqueda contorno">
              <a:extLst>
                <a:ext uri="{FF2B5EF4-FFF2-40B4-BE49-F238E27FC236}">
                  <a16:creationId xmlns:a16="http://schemas.microsoft.com/office/drawing/2014/main" id="{EA5B0911-B596-4F72-F16C-38147F9C16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71965" y="3064138"/>
              <a:ext cx="347040" cy="347040"/>
            </a:xfrm>
            <a:prstGeom prst="rect">
              <a:avLst/>
            </a:prstGeom>
          </p:spPr>
        </p:pic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DADA9A4-8A32-5547-8B85-D50A167888F2}"/>
              </a:ext>
            </a:extLst>
          </p:cNvPr>
          <p:cNvGrpSpPr/>
          <p:nvPr/>
        </p:nvGrpSpPr>
        <p:grpSpPr>
          <a:xfrm>
            <a:off x="6155080" y="2911571"/>
            <a:ext cx="2891428" cy="1762660"/>
            <a:chOff x="6155080" y="2911571"/>
            <a:chExt cx="2891428" cy="1762660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8F905D6-D095-E1AE-B556-E135A6E6BA6A}"/>
                </a:ext>
              </a:extLst>
            </p:cNvPr>
            <p:cNvSpPr/>
            <p:nvPr/>
          </p:nvSpPr>
          <p:spPr>
            <a:xfrm>
              <a:off x="6155080" y="2911571"/>
              <a:ext cx="2891428" cy="1762660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Text 2">
              <a:extLst>
                <a:ext uri="{FF2B5EF4-FFF2-40B4-BE49-F238E27FC236}">
                  <a16:creationId xmlns:a16="http://schemas.microsoft.com/office/drawing/2014/main" id="{F0D2040C-8BF0-C761-F681-155D4EF62E98}"/>
                </a:ext>
              </a:extLst>
            </p:cNvPr>
            <p:cNvSpPr/>
            <p:nvPr/>
          </p:nvSpPr>
          <p:spPr>
            <a:xfrm>
              <a:off x="6446994" y="2984794"/>
              <a:ext cx="215253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 err="1">
                  <a:solidFill>
                    <a:srgbClr val="C00000"/>
                  </a:solidFill>
                  <a:latin typeface="DIN Alternate" panose="020B0500000000000000" pitchFamily="34" charset="0"/>
                  <a:ea typeface="Calibri" pitchFamily="34" charset="-122"/>
                  <a:cs typeface="Calibri" pitchFamily="34" charset="-120"/>
                </a:rPr>
                <a:t>Exportación</a:t>
              </a:r>
              <a:endParaRPr lang="en-US" sz="1600" dirty="0">
                <a:solidFill>
                  <a:srgbClr val="C00000"/>
                </a:solidFill>
                <a:latin typeface="DIN Alternate" panose="020B0500000000000000" pitchFamily="34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4E62D5D1-B3C9-A73C-1E02-5716F40F278D}"/>
                </a:ext>
              </a:extLst>
            </p:cNvPr>
            <p:cNvSpPr txBox="1"/>
            <p:nvPr/>
          </p:nvSpPr>
          <p:spPr>
            <a:xfrm>
              <a:off x="6336244" y="3552403"/>
              <a:ext cx="260443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Descarga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cualquier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comparativa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Excel o PDF.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Posibilidad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exportar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fichero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carga para SAP (Nivel 2 de </a:t>
              </a:r>
              <a:r>
                <a:rPr lang="en-US" sz="1200" i="1" dirty="0" err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integración</a:t>
              </a:r>
              <a:r>
                <a:rPr lang="en-US" sz="1200" i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).</a:t>
              </a:r>
              <a:endParaRPr lang="en-US" sz="1200" i="1" dirty="0"/>
            </a:p>
          </p:txBody>
        </p:sp>
        <p:pic>
          <p:nvPicPr>
            <p:cNvPr id="43" name="Gráfico 42" descr="Descargar contorno">
              <a:extLst>
                <a:ext uri="{FF2B5EF4-FFF2-40B4-BE49-F238E27FC236}">
                  <a16:creationId xmlns:a16="http://schemas.microsoft.com/office/drawing/2014/main" id="{5FE22656-5CE2-352D-076E-8258BF92BB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00794" y="3054294"/>
              <a:ext cx="310510" cy="3105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2434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es-ES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5304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DIN Alternate" panose="020B0500000000000000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800" dirty="0">
              <a:solidFill>
                <a:srgbClr val="C00000"/>
              </a:solidFill>
              <a:latin typeface="DIN Alternate" panose="020B0500000000000000" pitchFamily="34" charset="0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04C96CFB-047E-C8D0-65A3-1AA0C1EB4A7A}"/>
              </a:ext>
            </a:extLst>
          </p:cNvPr>
          <p:cNvGrpSpPr/>
          <p:nvPr/>
        </p:nvGrpSpPr>
        <p:grpSpPr>
          <a:xfrm>
            <a:off x="822960" y="1079578"/>
            <a:ext cx="8046720" cy="565756"/>
            <a:chOff x="822960" y="942313"/>
            <a:chExt cx="8046720" cy="565756"/>
          </a:xfrm>
        </p:grpSpPr>
        <p:sp>
          <p:nvSpPr>
            <p:cNvPr id="6" name="Text 4"/>
            <p:cNvSpPr/>
            <p:nvPr/>
          </p:nvSpPr>
          <p:spPr>
            <a:xfrm>
              <a:off x="822960" y="942313"/>
              <a:ext cx="8046720" cy="268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ES" sz="1300" b="1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Validar campos con el equipo de etiquetado</a:t>
              </a:r>
              <a:endParaRPr lang="en-US" sz="1300" b="1" dirty="0">
                <a:solidFill>
                  <a:srgbClr val="C00000"/>
                </a:solidFill>
              </a:endParaRPr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0084FB6C-62DE-BD61-5DAF-AF6AC2E3B5CB}"/>
                </a:ext>
              </a:extLst>
            </p:cNvPr>
            <p:cNvSpPr/>
            <p:nvPr/>
          </p:nvSpPr>
          <p:spPr>
            <a:xfrm>
              <a:off x="822960" y="1239260"/>
              <a:ext cx="8046720" cy="268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ES" sz="13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Confirmar qué columnas del Excel de Noel son prioritarias para el MVP y en qué orden arrancar los competidores.</a:t>
              </a:r>
              <a:endParaRPr lang="en-US" sz="13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F9BC51D9-DCF1-22EA-3E75-FDB18498EAB5}"/>
              </a:ext>
            </a:extLst>
          </p:cNvPr>
          <p:cNvGrpSpPr/>
          <p:nvPr/>
        </p:nvGrpSpPr>
        <p:grpSpPr>
          <a:xfrm>
            <a:off x="365760" y="2019425"/>
            <a:ext cx="8503920" cy="541530"/>
            <a:chOff x="365760" y="1686190"/>
            <a:chExt cx="8503920" cy="541530"/>
          </a:xfrm>
        </p:grpSpPr>
        <p:sp>
          <p:nvSpPr>
            <p:cNvPr id="7" name="Shape 5"/>
            <p:cNvSpPr/>
            <p:nvPr/>
          </p:nvSpPr>
          <p:spPr>
            <a:xfrm>
              <a:off x="365760" y="1787721"/>
              <a:ext cx="329184" cy="329184"/>
            </a:xfrm>
            <a:prstGeom prst="ellipse">
              <a:avLst/>
            </a:prstGeom>
            <a:solidFill>
              <a:srgbClr val="C0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 6"/>
            <p:cNvSpPr/>
            <p:nvPr/>
          </p:nvSpPr>
          <p:spPr>
            <a:xfrm>
              <a:off x="365760" y="1787721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/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662D15F4-7972-1893-E8C5-4D9DFCFABFE9}"/>
                </a:ext>
              </a:extLst>
            </p:cNvPr>
            <p:cNvGrpSpPr/>
            <p:nvPr/>
          </p:nvGrpSpPr>
          <p:grpSpPr>
            <a:xfrm>
              <a:off x="822960" y="1686190"/>
              <a:ext cx="8046720" cy="541530"/>
              <a:chOff x="822960" y="1686190"/>
              <a:chExt cx="8046720" cy="541530"/>
            </a:xfrm>
          </p:grpSpPr>
          <p:sp>
            <p:nvSpPr>
              <p:cNvPr id="21" name="Text 4">
                <a:extLst>
                  <a:ext uri="{FF2B5EF4-FFF2-40B4-BE49-F238E27FC236}">
                    <a16:creationId xmlns:a16="http://schemas.microsoft.com/office/drawing/2014/main" id="{DBF04E1B-28C6-82DD-9E05-FF3108DAB5B5}"/>
                  </a:ext>
                </a:extLst>
              </p:cNvPr>
              <p:cNvSpPr/>
              <p:nvPr/>
            </p:nvSpPr>
            <p:spPr>
              <a:xfrm>
                <a:off x="822960" y="1686190"/>
                <a:ext cx="8046720" cy="2688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s-ES" sz="1300" b="1" dirty="0">
                    <a:solidFill>
                      <a:srgbClr val="C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Preguntar a IT la versión de SAP</a:t>
                </a:r>
                <a:endParaRPr lang="en-US" sz="13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Text 4">
                <a:extLst>
                  <a:ext uri="{FF2B5EF4-FFF2-40B4-BE49-F238E27FC236}">
                    <a16:creationId xmlns:a16="http://schemas.microsoft.com/office/drawing/2014/main" id="{BA73F17D-901E-F1E3-D44F-C463F1C63159}"/>
                  </a:ext>
                </a:extLst>
              </p:cNvPr>
              <p:cNvSpPr/>
              <p:nvPr/>
            </p:nvSpPr>
            <p:spPr>
              <a:xfrm>
                <a:off x="822960" y="1958911"/>
                <a:ext cx="8046720" cy="2688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s-ES" sz="13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Saber si es ECC o S/4HANA y si tienen SAP </a:t>
                </a:r>
                <a:r>
                  <a:rPr lang="es-ES" sz="13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Integration</a:t>
                </a:r>
                <a:r>
                  <a:rPr lang="es-ES" sz="13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Suite contratado. </a:t>
                </a:r>
              </a:p>
            </p:txBody>
          </p:sp>
        </p:grp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F12E11B9-B9F8-AC8E-50E3-D217EB982A4F}"/>
              </a:ext>
            </a:extLst>
          </p:cNvPr>
          <p:cNvGrpSpPr/>
          <p:nvPr/>
        </p:nvGrpSpPr>
        <p:grpSpPr>
          <a:xfrm>
            <a:off x="365760" y="2935046"/>
            <a:ext cx="8503920" cy="541530"/>
            <a:chOff x="365760" y="2454946"/>
            <a:chExt cx="8503920" cy="541530"/>
          </a:xfrm>
        </p:grpSpPr>
        <p:sp>
          <p:nvSpPr>
            <p:cNvPr id="10" name="Shape 8"/>
            <p:cNvSpPr/>
            <p:nvPr/>
          </p:nvSpPr>
          <p:spPr>
            <a:xfrm>
              <a:off x="365760" y="2547003"/>
              <a:ext cx="329184" cy="329184"/>
            </a:xfrm>
            <a:prstGeom prst="ellipse">
              <a:avLst/>
            </a:prstGeom>
            <a:solidFill>
              <a:srgbClr val="C0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 9"/>
            <p:cNvSpPr/>
            <p:nvPr/>
          </p:nvSpPr>
          <p:spPr>
            <a:xfrm>
              <a:off x="365760" y="2547003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/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07B4BE24-72CD-4D06-28E1-083FFE342D92}"/>
                </a:ext>
              </a:extLst>
            </p:cNvPr>
            <p:cNvGrpSpPr/>
            <p:nvPr/>
          </p:nvGrpSpPr>
          <p:grpSpPr>
            <a:xfrm>
              <a:off x="822960" y="2454946"/>
              <a:ext cx="8046720" cy="541530"/>
              <a:chOff x="822960" y="2454946"/>
              <a:chExt cx="8046720" cy="541530"/>
            </a:xfrm>
          </p:grpSpPr>
          <p:sp>
            <p:nvSpPr>
              <p:cNvPr id="23" name="Text 4">
                <a:extLst>
                  <a:ext uri="{FF2B5EF4-FFF2-40B4-BE49-F238E27FC236}">
                    <a16:creationId xmlns:a16="http://schemas.microsoft.com/office/drawing/2014/main" id="{37062136-16D5-E5DF-9C0F-98B890834D6A}"/>
                  </a:ext>
                </a:extLst>
              </p:cNvPr>
              <p:cNvSpPr/>
              <p:nvPr/>
            </p:nvSpPr>
            <p:spPr>
              <a:xfrm>
                <a:off x="822960" y="2454946"/>
                <a:ext cx="8046720" cy="2688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s-ES" sz="1300" b="1" dirty="0">
                    <a:solidFill>
                      <a:srgbClr val="C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Perfil técnico en </a:t>
                </a:r>
                <a:r>
                  <a:rPr lang="es-ES" sz="1300" b="1" dirty="0" err="1">
                    <a:solidFill>
                      <a:srgbClr val="C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Pyhon</a:t>
                </a:r>
                <a:r>
                  <a:rPr lang="es-ES" sz="1300" b="1" dirty="0">
                    <a:solidFill>
                      <a:srgbClr val="C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+ n8n + SQL</a:t>
                </a:r>
                <a:endParaRPr lang="en-US" sz="13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4" name="Text 4">
                <a:extLst>
                  <a:ext uri="{FF2B5EF4-FFF2-40B4-BE49-F238E27FC236}">
                    <a16:creationId xmlns:a16="http://schemas.microsoft.com/office/drawing/2014/main" id="{C88F800F-F318-7561-5D30-3F7F72309556}"/>
                  </a:ext>
                </a:extLst>
              </p:cNvPr>
              <p:cNvSpPr/>
              <p:nvPr/>
            </p:nvSpPr>
            <p:spPr>
              <a:xfrm>
                <a:off x="822960" y="2727667"/>
                <a:ext cx="8046720" cy="2688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s-ES" sz="13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¿Hay Perfil Python + n8n + SQL? </a:t>
                </a:r>
              </a:p>
            </p:txBody>
          </p:sp>
        </p:grp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5BA645B8-34C9-7D32-6017-F31511C339AA}"/>
              </a:ext>
            </a:extLst>
          </p:cNvPr>
          <p:cNvGrpSpPr/>
          <p:nvPr/>
        </p:nvGrpSpPr>
        <p:grpSpPr>
          <a:xfrm>
            <a:off x="365760" y="3850668"/>
            <a:ext cx="8503920" cy="541530"/>
            <a:chOff x="365760" y="3197787"/>
            <a:chExt cx="8503920" cy="541530"/>
          </a:xfrm>
        </p:grpSpPr>
        <p:sp>
          <p:nvSpPr>
            <p:cNvPr id="13" name="Shape 11"/>
            <p:cNvSpPr/>
            <p:nvPr/>
          </p:nvSpPr>
          <p:spPr>
            <a:xfrm>
              <a:off x="365760" y="3282696"/>
              <a:ext cx="329184" cy="329184"/>
            </a:xfrm>
            <a:prstGeom prst="ellipse">
              <a:avLst/>
            </a:prstGeom>
            <a:solidFill>
              <a:srgbClr val="C0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 12"/>
            <p:cNvSpPr/>
            <p:nvPr/>
          </p:nvSpPr>
          <p:spPr>
            <a:xfrm>
              <a:off x="365760" y="3303960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6DBB541D-4DF8-06F1-8600-47A25775D623}"/>
                </a:ext>
              </a:extLst>
            </p:cNvPr>
            <p:cNvGrpSpPr/>
            <p:nvPr/>
          </p:nvGrpSpPr>
          <p:grpSpPr>
            <a:xfrm>
              <a:off x="822960" y="3197787"/>
              <a:ext cx="8046720" cy="541530"/>
              <a:chOff x="822960" y="3197787"/>
              <a:chExt cx="8046720" cy="541530"/>
            </a:xfrm>
          </p:grpSpPr>
          <p:sp>
            <p:nvSpPr>
              <p:cNvPr id="27" name="Text 4">
                <a:extLst>
                  <a:ext uri="{FF2B5EF4-FFF2-40B4-BE49-F238E27FC236}">
                    <a16:creationId xmlns:a16="http://schemas.microsoft.com/office/drawing/2014/main" id="{FC79C326-1FF8-54E2-83B1-761B1E9E016F}"/>
                  </a:ext>
                </a:extLst>
              </p:cNvPr>
              <p:cNvSpPr/>
              <p:nvPr/>
            </p:nvSpPr>
            <p:spPr>
              <a:xfrm>
                <a:off x="822960" y="3197787"/>
                <a:ext cx="8046720" cy="2688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s-ES" sz="1300" b="1" dirty="0">
                    <a:solidFill>
                      <a:srgbClr val="C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Definir el canal de alertas</a:t>
                </a:r>
                <a:endParaRPr lang="en-US" sz="13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8" name="Text 4">
                <a:extLst>
                  <a:ext uri="{FF2B5EF4-FFF2-40B4-BE49-F238E27FC236}">
                    <a16:creationId xmlns:a16="http://schemas.microsoft.com/office/drawing/2014/main" id="{35DBD2B0-3F26-A58A-3250-6C3DA49C4074}"/>
                  </a:ext>
                </a:extLst>
              </p:cNvPr>
              <p:cNvSpPr/>
              <p:nvPr/>
            </p:nvSpPr>
            <p:spPr>
              <a:xfrm>
                <a:off x="822960" y="3470508"/>
                <a:ext cx="8046720" cy="26880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s-ES" sz="13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Decidir si las alertas llegan por email corporativo, Microsoft </a:t>
                </a:r>
                <a:r>
                  <a:rPr lang="es-ES" sz="13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Teams</a:t>
                </a:r>
                <a:r>
                  <a:rPr lang="es-ES" sz="13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 Slack.</a:t>
                </a:r>
              </a:p>
            </p:txBody>
          </p:sp>
        </p:grpSp>
      </p:grpSp>
      <p:pic>
        <p:nvPicPr>
          <p:cNvPr id="39" name="Imagen 38">
            <a:extLst>
              <a:ext uri="{FF2B5EF4-FFF2-40B4-BE49-F238E27FC236}">
                <a16:creationId xmlns:a16="http://schemas.microsoft.com/office/drawing/2014/main" id="{DA0BECD9-E6D1-D3A6-AC66-B8F353437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383" y="186919"/>
            <a:ext cx="1247686" cy="624323"/>
          </a:xfrm>
          <a:prstGeom prst="rect">
            <a:avLst/>
          </a:prstGeom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E35182A7-CD74-2A96-68A4-C541FF3B234C}"/>
              </a:ext>
            </a:extLst>
          </p:cNvPr>
          <p:cNvGrpSpPr/>
          <p:nvPr/>
        </p:nvGrpSpPr>
        <p:grpSpPr>
          <a:xfrm>
            <a:off x="365760" y="1197864"/>
            <a:ext cx="329184" cy="329184"/>
            <a:chOff x="365760" y="1284240"/>
            <a:chExt cx="329184" cy="329184"/>
          </a:xfrm>
        </p:grpSpPr>
        <p:sp>
          <p:nvSpPr>
            <p:cNvPr id="40" name="Shape 5">
              <a:extLst>
                <a:ext uri="{FF2B5EF4-FFF2-40B4-BE49-F238E27FC236}">
                  <a16:creationId xmlns:a16="http://schemas.microsoft.com/office/drawing/2014/main" id="{B7EB755A-706F-AEFA-8698-A17481732754}"/>
                </a:ext>
              </a:extLst>
            </p:cNvPr>
            <p:cNvSpPr/>
            <p:nvPr/>
          </p:nvSpPr>
          <p:spPr>
            <a:xfrm>
              <a:off x="365760" y="1284240"/>
              <a:ext cx="329184" cy="329184"/>
            </a:xfrm>
            <a:prstGeom prst="ellipse">
              <a:avLst/>
            </a:prstGeom>
            <a:solidFill>
              <a:srgbClr val="C0000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 3"/>
            <p:cNvSpPr/>
            <p:nvPr/>
          </p:nvSpPr>
          <p:spPr>
            <a:xfrm>
              <a:off x="365760" y="1284240"/>
              <a:ext cx="32918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DD3842-B1D4-45AD-BA6A-3DE63D22BD67}">
  <we:reference id="f5f369e5-aa35-49d7-ad7b-638152ddb008" version="1.0.0.1" store="EXCatalog" storeType="EXCatalog"/>
  <we:alternateReferences>
    <we:reference id="WA200010001" version="1.0.0.1" store="es-ES" storeType="OMEX"/>
  </we:alternateReferences>
  <we:properties>
    <we:property name="claude.fileId" value="&quot;f084f57c-762f-4cc2-a51c-8f99564a791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353</TotalTime>
  <Words>995</Words>
  <Application>Microsoft Office PowerPoint</Application>
  <PresentationFormat>Presentación en pantalla (16:9)</PresentationFormat>
  <Paragraphs>177</Paragraphs>
  <Slides>10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DIN Alternate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de Inteligencia Competitiva</dc:title>
  <dc:subject>PptxGenJS Presentation</dc:subject>
  <dc:creator>PptxGenJS</dc:creator>
  <cp:lastModifiedBy>Beatriz Rodríguez del Cerro</cp:lastModifiedBy>
  <cp:revision>7</cp:revision>
  <cp:lastPrinted>2026-05-27T11:00:48Z</cp:lastPrinted>
  <dcterms:created xsi:type="dcterms:W3CDTF">2026-05-24T09:33:16Z</dcterms:created>
  <dcterms:modified xsi:type="dcterms:W3CDTF">2026-05-27T11:52:23Z</dcterms:modified>
</cp:coreProperties>
</file>